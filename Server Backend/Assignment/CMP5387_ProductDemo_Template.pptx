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CE_958870EB.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280_C3E7179D.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281_50C3BFFB.xml" ContentType="application/vnd.ms-powerpoint.comments+xml"/>
  <Override PartName="/ppt/notesSlides/notesSlide9.xml" ContentType="application/vnd.openxmlformats-officedocument.presentationml.notesSlide+xml"/>
  <Override PartName="/ppt/comments/modernComment_287_3986150D.xml" ContentType="application/vnd.ms-powerpoint.comments+xml"/>
  <Override PartName="/ppt/notesSlides/notesSlide10.xml" ContentType="application/vnd.openxmlformats-officedocument.presentationml.notesSlide+xml"/>
  <Override PartName="/ppt/comments/modernComment_289_36F32AA4.xml" ContentType="application/vnd.ms-powerpoint.comments+xml"/>
  <Override PartName="/ppt/notesSlides/notesSlide11.xml" ContentType="application/vnd.openxmlformats-officedocument.presentationml.notesSlide+xml"/>
  <Override PartName="/ppt/comments/modernComment_28A_8D7D5848.xml" ContentType="application/vnd.ms-powerpoint.comments+xml"/>
  <Override PartName="/ppt/notesSlides/notesSlide12.xml" ContentType="application/vnd.openxmlformats-officedocument.presentationml.notesSlide+xml"/>
  <Override PartName="/ppt/comments/modernComment_28B_5967DB65.xml" ContentType="application/vnd.ms-powerpoint.comments+xml"/>
  <Override PartName="/ppt/notesSlides/notesSlide13.xml" ContentType="application/vnd.openxmlformats-officedocument.presentationml.notesSlide+xml"/>
  <Override PartName="/ppt/comments/modernComment_290_75188FE1.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4"/>
    <p:sldMasterId id="2147483661" r:id="rId5"/>
  </p:sldMasterIdLst>
  <p:notesMasterIdLst>
    <p:notesMasterId r:id="rId25"/>
  </p:notesMasterIdLst>
  <p:sldIdLst>
    <p:sldId id="605" r:id="rId6"/>
    <p:sldId id="639" r:id="rId7"/>
    <p:sldId id="657" r:id="rId8"/>
    <p:sldId id="462" r:id="rId9"/>
    <p:sldId id="653" r:id="rId10"/>
    <p:sldId id="640" r:id="rId11"/>
    <p:sldId id="658" r:id="rId12"/>
    <p:sldId id="641" r:id="rId13"/>
    <p:sldId id="647" r:id="rId14"/>
    <p:sldId id="649" r:id="rId15"/>
    <p:sldId id="659" r:id="rId16"/>
    <p:sldId id="650" r:id="rId17"/>
    <p:sldId id="651" r:id="rId18"/>
    <p:sldId id="656" r:id="rId19"/>
    <p:sldId id="652" r:id="rId20"/>
    <p:sldId id="660" r:id="rId21"/>
    <p:sldId id="655" r:id="rId22"/>
    <p:sldId id="654" r:id="rId23"/>
    <p:sldId id="66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7A7D770-F13E-4221-8579-2EA6462DB9F6}">
          <p14:sldIdLst>
            <p14:sldId id="605"/>
            <p14:sldId id="639"/>
            <p14:sldId id="657"/>
            <p14:sldId id="462"/>
            <p14:sldId id="653"/>
            <p14:sldId id="640"/>
            <p14:sldId id="658"/>
            <p14:sldId id="641"/>
            <p14:sldId id="647"/>
            <p14:sldId id="649"/>
            <p14:sldId id="659"/>
            <p14:sldId id="650"/>
            <p14:sldId id="651"/>
            <p14:sldId id="656"/>
            <p14:sldId id="652"/>
            <p14:sldId id="660"/>
            <p14:sldId id="655"/>
            <p14:sldId id="654"/>
            <p14:sldId id="6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1973FA-D5F6-882C-5DE8-14B788522945}" name="Emmett Cooper" initials="EC" userId="S::Emmett.Cooper@bcu.ac.uk::3f92e2c5-c393-4112-816d-cf33f888ef1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ris Berry" initials="CB" lastIdx="4" clrIdx="0"/>
  <p:cmAuthor id="2" name="Lucy Hodson" initials="LH" lastIdx="4" clrIdx="1">
    <p:extLst>
      <p:ext uri="{19B8F6BF-5375-455C-9EA6-DF929625EA0E}">
        <p15:presenceInfo xmlns:p15="http://schemas.microsoft.com/office/powerpoint/2012/main" userId="S-1-5-21-1957994488-1326574676-1417001333-89429" providerId="AD"/>
      </p:ext>
    </p:extLst>
  </p:cmAuthor>
  <p:cmAuthor id="3" name="James Flynn" initials="JF" lastIdx="1" clrIdx="2">
    <p:extLst>
      <p:ext uri="{19B8F6BF-5375-455C-9EA6-DF929625EA0E}">
        <p15:presenceInfo xmlns:p15="http://schemas.microsoft.com/office/powerpoint/2012/main" userId="S-1-5-21-1957994488-1326574676-1417001333-1075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FAF"/>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21F125-8D30-569F-5FED-6D29C84ECEDE}" v="368" dt="2026-01-22T13:23:46.283"/>
    <p1510:client id="{E7361B5A-EB23-0794-CE6A-15FBCF7DDB4B}" v="797" dt="2026-01-22T11:28:16.4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69" autoAdjust="0"/>
    <p:restoredTop sz="70655" autoAdjust="0"/>
  </p:normalViewPr>
  <p:slideViewPr>
    <p:cSldViewPr snapToGrid="0">
      <p:cViewPr varScale="1">
        <p:scale>
          <a:sx n="78" d="100"/>
          <a:sy n="78" d="100"/>
        </p:scale>
        <p:origin x="106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Rush" userId="S::alex.rush@mail.bcu.ac.uk::3553fc2e-875d-4b8e-9341-9209134c3454" providerId="AD" clId="Web-{E7361B5A-EB23-0794-CE6A-15FBCF7DDB4B}"/>
    <pc:docChg chg="modSld sldOrd">
      <pc:chgData name="Alex Rush" userId="S::alex.rush@mail.bcu.ac.uk::3553fc2e-875d-4b8e-9341-9209134c3454" providerId="AD" clId="Web-{E7361B5A-EB23-0794-CE6A-15FBCF7DDB4B}" dt="2026-01-22T11:28:16.179" v="568" actId="1076"/>
      <pc:docMkLst>
        <pc:docMk/>
      </pc:docMkLst>
      <pc:sldChg chg="addSp delSp modSp ord modCm modNotes">
        <pc:chgData name="Alex Rush" userId="S::alex.rush@mail.bcu.ac.uk::3553fc2e-875d-4b8e-9341-9209134c3454" providerId="AD" clId="Web-{E7361B5A-EB23-0794-CE6A-15FBCF7DDB4B}" dt="2026-01-22T11:28:16.179" v="568" actId="1076"/>
        <pc:sldMkLst>
          <pc:docMk/>
          <pc:sldMk cId="2508746987" sldId="462"/>
        </pc:sldMkLst>
        <pc:spChg chg="add mod">
          <ac:chgData name="Alex Rush" userId="S::alex.rush@mail.bcu.ac.uk::3553fc2e-875d-4b8e-9341-9209134c3454" providerId="AD" clId="Web-{E7361B5A-EB23-0794-CE6A-15FBCF7DDB4B}" dt="2026-01-22T11:16:47.637" v="243" actId="20577"/>
          <ac:spMkLst>
            <pc:docMk/>
            <pc:sldMk cId="2508746987" sldId="462"/>
            <ac:spMk id="3" creationId="{DFBEC502-027C-98E2-DA37-8428D5BDB969}"/>
          </ac:spMkLst>
        </pc:spChg>
        <pc:spChg chg="add del mod ord">
          <ac:chgData name="Alex Rush" userId="S::alex.rush@mail.bcu.ac.uk::3553fc2e-875d-4b8e-9341-9209134c3454" providerId="AD" clId="Web-{E7361B5A-EB23-0794-CE6A-15FBCF7DDB4B}" dt="2026-01-22T11:25:58.144" v="446"/>
          <ac:spMkLst>
            <pc:docMk/>
            <pc:sldMk cId="2508746987" sldId="462"/>
            <ac:spMk id="4" creationId="{488724C3-E3AA-466E-B4FF-42FC8D56446E}"/>
          </ac:spMkLst>
        </pc:spChg>
        <pc:spChg chg="del mod">
          <ac:chgData name="Alex Rush" userId="S::alex.rush@mail.bcu.ac.uk::3553fc2e-875d-4b8e-9341-9209134c3454" providerId="AD" clId="Web-{E7361B5A-EB23-0794-CE6A-15FBCF7DDB4B}" dt="2026-01-22T11:25:30.331" v="443"/>
          <ac:spMkLst>
            <pc:docMk/>
            <pc:sldMk cId="2508746987" sldId="462"/>
            <ac:spMk id="5" creationId="{8E334A14-18C7-C8C4-E95C-E7F5AA22562B}"/>
          </ac:spMkLst>
        </pc:spChg>
        <pc:spChg chg="mod">
          <ac:chgData name="Alex Rush" userId="S::alex.rush@mail.bcu.ac.uk::3553fc2e-875d-4b8e-9341-9209134c3454" providerId="AD" clId="Web-{E7361B5A-EB23-0794-CE6A-15FBCF7DDB4B}" dt="2026-01-22T11:10:36.778" v="206" actId="20577"/>
          <ac:spMkLst>
            <pc:docMk/>
            <pc:sldMk cId="2508746987" sldId="462"/>
            <ac:spMk id="6" creationId="{D1E838E3-6A1B-8AC4-6461-D65D3E4FF039}"/>
          </ac:spMkLst>
        </pc:spChg>
        <pc:spChg chg="ord">
          <ac:chgData name="Alex Rush" userId="S::alex.rush@mail.bcu.ac.uk::3553fc2e-875d-4b8e-9341-9209134c3454" providerId="AD" clId="Web-{E7361B5A-EB23-0794-CE6A-15FBCF7DDB4B}" dt="2026-01-22T11:14:46.509" v="209"/>
          <ac:spMkLst>
            <pc:docMk/>
            <pc:sldMk cId="2508746987" sldId="462"/>
            <ac:spMk id="8" creationId="{75A710E1-E451-0F4F-967B-6F182EF99A7C}"/>
          </ac:spMkLst>
        </pc:spChg>
        <pc:spChg chg="add del mod">
          <ac:chgData name="Alex Rush" userId="S::alex.rush@mail.bcu.ac.uk::3553fc2e-875d-4b8e-9341-9209134c3454" providerId="AD" clId="Web-{E7361B5A-EB23-0794-CE6A-15FBCF7DDB4B}" dt="2026-01-22T11:25:39.909" v="444"/>
          <ac:spMkLst>
            <pc:docMk/>
            <pc:sldMk cId="2508746987" sldId="462"/>
            <ac:spMk id="10" creationId="{4A737EE5-BCE4-E135-5ED3-5414A9E72E46}"/>
          </ac:spMkLst>
        </pc:spChg>
        <pc:spChg chg="add mod">
          <ac:chgData name="Alex Rush" userId="S::alex.rush@mail.bcu.ac.uk::3553fc2e-875d-4b8e-9341-9209134c3454" providerId="AD" clId="Web-{E7361B5A-EB23-0794-CE6A-15FBCF7DDB4B}" dt="2026-01-22T11:28:16.179" v="568" actId="1076"/>
          <ac:spMkLst>
            <pc:docMk/>
            <pc:sldMk cId="2508746987" sldId="462"/>
            <ac:spMk id="20" creationId="{2BB42BE2-D089-1D69-23D1-A0E20A12C597}"/>
          </ac:spMkLst>
        </pc:spChg>
        <pc:graphicFrameChg chg="add del">
          <ac:chgData name="Alex Rush" userId="S::alex.rush@mail.bcu.ac.uk::3553fc2e-875d-4b8e-9341-9209134c3454" providerId="AD" clId="Web-{E7361B5A-EB23-0794-CE6A-15FBCF7DDB4B}" dt="2026-01-22T11:25:58.144" v="446"/>
          <ac:graphicFrameMkLst>
            <pc:docMk/>
            <pc:sldMk cId="2508746987" sldId="462"/>
            <ac:graphicFrameMk id="13" creationId="{7FD61F10-52E5-B405-D0BC-C34960023F12}"/>
          </ac:graphicFrameMkLst>
        </pc:graphicFrameChg>
        <pc:picChg chg="mod">
          <ac:chgData name="Alex Rush" userId="S::alex.rush@mail.bcu.ac.uk::3553fc2e-875d-4b8e-9341-9209134c3454" providerId="AD" clId="Web-{E7361B5A-EB23-0794-CE6A-15FBCF7DDB4B}" dt="2026-01-22T11:08:46.339" v="118" actId="14100"/>
          <ac:picMkLst>
            <pc:docMk/>
            <pc:sldMk cId="2508746987" sldId="462"/>
            <ac:picMk id="9" creationId="{7D5D87FE-3AD7-EB47-8EEB-99DCEAB6BE63}"/>
          </ac:picMkLst>
        </pc:picChg>
        <pc:picChg chg="add mod ord">
          <ac:chgData name="Alex Rush" userId="S::alex.rush@mail.bcu.ac.uk::3553fc2e-875d-4b8e-9341-9209134c3454" providerId="AD" clId="Web-{E7361B5A-EB23-0794-CE6A-15FBCF7DDB4B}" dt="2026-01-22T11:26:14.347" v="451" actId="1076"/>
          <ac:picMkLst>
            <pc:docMk/>
            <pc:sldMk cId="2508746987" sldId="462"/>
            <ac:picMk id="11" creationId="{F32AC8FF-D974-ECC1-57C9-0FFAC48F91D4}"/>
          </ac:picMkLst>
        </pc:picChg>
        <pc:extLst>
          <p:ext xmlns:p="http://schemas.openxmlformats.org/presentationml/2006/main" uri="{D6D511B9-2390-475A-947B-AFAB55BFBCF1}">
            <pc226:cmChg xmlns:pc226="http://schemas.microsoft.com/office/powerpoint/2022/06/main/command" chg="mod">
              <pc226:chgData name="Alex Rush" userId="S::alex.rush@mail.bcu.ac.uk::3553fc2e-875d-4b8e-9341-9209134c3454" providerId="AD" clId="Web-{E7361B5A-EB23-0794-CE6A-15FBCF7DDB4B}" dt="2026-01-22T11:10:32.996" v="205" actId="20577"/>
              <pc2:cmMkLst xmlns:pc2="http://schemas.microsoft.com/office/powerpoint/2019/9/main/command">
                <pc:docMk/>
                <pc:sldMk cId="2508746987" sldId="462"/>
                <pc2:cmMk id="{3CEDCF8E-872E-42FC-A28A-652DCE0CCA91}"/>
              </pc2:cmMkLst>
            </pc226:cmChg>
          </p:ext>
        </pc:extLst>
      </pc:sldChg>
      <pc:sldChg chg="modSp">
        <pc:chgData name="Alex Rush" userId="S::alex.rush@mail.bcu.ac.uk::3553fc2e-875d-4b8e-9341-9209134c3454" providerId="AD" clId="Web-{E7361B5A-EB23-0794-CE6A-15FBCF7DDB4B}" dt="2026-01-22T11:09:21.714" v="127" actId="20577"/>
        <pc:sldMkLst>
          <pc:docMk/>
          <pc:sldMk cId="2726903448" sldId="605"/>
        </pc:sldMkLst>
        <pc:spChg chg="mod">
          <ac:chgData name="Alex Rush" userId="S::alex.rush@mail.bcu.ac.uk::3553fc2e-875d-4b8e-9341-9209134c3454" providerId="AD" clId="Web-{E7361B5A-EB23-0794-CE6A-15FBCF7DDB4B}" dt="2026-01-22T11:09:21.714" v="127" actId="20577"/>
          <ac:spMkLst>
            <pc:docMk/>
            <pc:sldMk cId="2726903448" sldId="605"/>
            <ac:spMk id="3" creationId="{00000000-0000-0000-0000-000000000000}"/>
          </ac:spMkLst>
        </pc:spChg>
      </pc:sldChg>
      <pc:sldChg chg="modSp">
        <pc:chgData name="Alex Rush" userId="S::alex.rush@mail.bcu.ac.uk::3553fc2e-875d-4b8e-9341-9209134c3454" providerId="AD" clId="Web-{E7361B5A-EB23-0794-CE6A-15FBCF7DDB4B}" dt="2026-01-22T11:06:18.166" v="112" actId="14100"/>
        <pc:sldMkLst>
          <pc:docMk/>
          <pc:sldMk cId="2483116790" sldId="639"/>
        </pc:sldMkLst>
        <pc:spChg chg="mod">
          <ac:chgData name="Alex Rush" userId="S::alex.rush@mail.bcu.ac.uk::3553fc2e-875d-4b8e-9341-9209134c3454" providerId="AD" clId="Web-{E7361B5A-EB23-0794-CE6A-15FBCF7DDB4B}" dt="2026-01-22T11:04:02.633" v="26" actId="20577"/>
          <ac:spMkLst>
            <pc:docMk/>
            <pc:sldMk cId="2483116790" sldId="639"/>
            <ac:spMk id="4" creationId="{8D6DBFA2-0A8B-3A6F-A1F2-2CC3286DF1ED}"/>
          </ac:spMkLst>
        </pc:spChg>
        <pc:spChg chg="mod">
          <ac:chgData name="Alex Rush" userId="S::alex.rush@mail.bcu.ac.uk::3553fc2e-875d-4b8e-9341-9209134c3454" providerId="AD" clId="Web-{E7361B5A-EB23-0794-CE6A-15FBCF7DDB4B}" dt="2026-01-22T11:04:13.227" v="27" actId="20577"/>
          <ac:spMkLst>
            <pc:docMk/>
            <pc:sldMk cId="2483116790" sldId="639"/>
            <ac:spMk id="5" creationId="{85991FE9-9A2A-0A90-438E-40532AC146CB}"/>
          </ac:spMkLst>
        </pc:spChg>
        <pc:picChg chg="mod">
          <ac:chgData name="Alex Rush" userId="S::alex.rush@mail.bcu.ac.uk::3553fc2e-875d-4b8e-9341-9209134c3454" providerId="AD" clId="Web-{E7361B5A-EB23-0794-CE6A-15FBCF7DDB4B}" dt="2026-01-22T11:06:18.166" v="112" actId="14100"/>
          <ac:picMkLst>
            <pc:docMk/>
            <pc:sldMk cId="2483116790" sldId="639"/>
            <ac:picMk id="6" creationId="{E55406A7-6CE5-A6EA-C503-DE4665931589}"/>
          </ac:picMkLst>
        </pc:picChg>
      </pc:sldChg>
      <pc:sldChg chg="ord">
        <pc:chgData name="Alex Rush" userId="S::alex.rush@mail.bcu.ac.uk::3553fc2e-875d-4b8e-9341-9209134c3454" providerId="AD" clId="Web-{E7361B5A-EB23-0794-CE6A-15FBCF7DDB4B}" dt="2026-01-22T11:07:16.729" v="115"/>
        <pc:sldMkLst>
          <pc:docMk/>
          <pc:sldMk cId="1499978597" sldId="651"/>
        </pc:sldMkLst>
      </pc:sldChg>
      <pc:sldChg chg="ord">
        <pc:chgData name="Alex Rush" userId="S::alex.rush@mail.bcu.ac.uk::3553fc2e-875d-4b8e-9341-9209134c3454" providerId="AD" clId="Web-{E7361B5A-EB23-0794-CE6A-15FBCF7DDB4B}" dt="2026-01-22T11:07:19.760" v="116"/>
        <pc:sldMkLst>
          <pc:docMk/>
          <pc:sldMk cId="3427033946" sldId="652"/>
        </pc:sldMkLst>
      </pc:sldChg>
      <pc:sldChg chg="modSp">
        <pc:chgData name="Alex Rush" userId="S::alex.rush@mail.bcu.ac.uk::3553fc2e-875d-4b8e-9341-9209134c3454" providerId="AD" clId="Web-{E7361B5A-EB23-0794-CE6A-15FBCF7DDB4B}" dt="2026-01-22T11:06:53.181" v="113" actId="20577"/>
        <pc:sldMkLst>
          <pc:docMk/>
          <pc:sldMk cId="4006403997" sldId="653"/>
        </pc:sldMkLst>
        <pc:spChg chg="mod">
          <ac:chgData name="Alex Rush" userId="S::alex.rush@mail.bcu.ac.uk::3553fc2e-875d-4b8e-9341-9209134c3454" providerId="AD" clId="Web-{E7361B5A-EB23-0794-CE6A-15FBCF7DDB4B}" dt="2026-01-22T11:06:53.181" v="113" actId="20577"/>
          <ac:spMkLst>
            <pc:docMk/>
            <pc:sldMk cId="4006403997" sldId="653"/>
            <ac:spMk id="8" creationId="{50CADCCD-1C7D-4072-28F2-174A598D56F8}"/>
          </ac:spMkLst>
        </pc:spChg>
      </pc:sldChg>
      <pc:sldChg chg="ord">
        <pc:chgData name="Alex Rush" userId="S::alex.rush@mail.bcu.ac.uk::3553fc2e-875d-4b8e-9341-9209134c3454" providerId="AD" clId="Web-{E7361B5A-EB23-0794-CE6A-15FBCF7DDB4B}" dt="2026-01-22T11:06:12.947" v="111"/>
        <pc:sldMkLst>
          <pc:docMk/>
          <pc:sldMk cId="2604758517" sldId="657"/>
        </pc:sldMkLst>
      </pc:sldChg>
      <pc:sldChg chg="ord">
        <pc:chgData name="Alex Rush" userId="S::alex.rush@mail.bcu.ac.uk::3553fc2e-875d-4b8e-9341-9209134c3454" providerId="AD" clId="Web-{E7361B5A-EB23-0794-CE6A-15FBCF7DDB4B}" dt="2026-01-22T11:07:11.994" v="114"/>
        <pc:sldMkLst>
          <pc:docMk/>
          <pc:sldMk cId="2030888632" sldId="659"/>
        </pc:sldMkLst>
      </pc:sldChg>
    </pc:docChg>
  </pc:docChgLst>
  <pc:docChgLst>
    <pc:chgData name="Daniel Roberts" userId="S::daniel.roberts4@mail.bcu.ac.uk::75271c38-e632-4765-a405-8e8dc3d15425" providerId="AD" clId="Web-{3621F125-8D30-569F-5FED-6D29C84ECEDE}"/>
    <pc:docChg chg="modSld sldOrd">
      <pc:chgData name="Daniel Roberts" userId="S::daniel.roberts4@mail.bcu.ac.uk::75271c38-e632-4765-a405-8e8dc3d15425" providerId="AD" clId="Web-{3621F125-8D30-569F-5FED-6D29C84ECEDE}" dt="2026-01-22T13:23:46.283" v="336" actId="14100"/>
      <pc:docMkLst>
        <pc:docMk/>
      </pc:docMkLst>
      <pc:sldChg chg="modSp ord">
        <pc:chgData name="Daniel Roberts" userId="S::daniel.roberts4@mail.bcu.ac.uk::75271c38-e632-4765-a405-8e8dc3d15425" providerId="AD" clId="Web-{3621F125-8D30-569F-5FED-6D29C84ECEDE}" dt="2026-01-22T11:08:40.605" v="8"/>
        <pc:sldMkLst>
          <pc:docMk/>
          <pc:sldMk cId="2483116790" sldId="639"/>
        </pc:sldMkLst>
        <pc:spChg chg="mod">
          <ac:chgData name="Daniel Roberts" userId="S::daniel.roberts4@mail.bcu.ac.uk::75271c38-e632-4765-a405-8e8dc3d15425" providerId="AD" clId="Web-{3621F125-8D30-569F-5FED-6D29C84ECEDE}" dt="2026-01-22T10:59:15.539" v="7" actId="14100"/>
          <ac:spMkLst>
            <pc:docMk/>
            <pc:sldMk cId="2483116790" sldId="639"/>
            <ac:spMk id="5" creationId="{85991FE9-9A2A-0A90-438E-40532AC146CB}"/>
          </ac:spMkLst>
        </pc:spChg>
      </pc:sldChg>
      <pc:sldChg chg="addSp delSp modSp">
        <pc:chgData name="Daniel Roberts" userId="S::daniel.roberts4@mail.bcu.ac.uk::75271c38-e632-4765-a405-8e8dc3d15425" providerId="AD" clId="Web-{3621F125-8D30-569F-5FED-6D29C84ECEDE}" dt="2026-01-22T13:23:46.283" v="336" actId="14100"/>
        <pc:sldMkLst>
          <pc:docMk/>
          <pc:sldMk cId="3286701981" sldId="640"/>
        </pc:sldMkLst>
        <pc:spChg chg="add mod">
          <ac:chgData name="Daniel Roberts" userId="S::daniel.roberts4@mail.bcu.ac.uk::75271c38-e632-4765-a405-8e8dc3d15425" providerId="AD" clId="Web-{3621F125-8D30-569F-5FED-6D29C84ECEDE}" dt="2026-01-22T13:23:46.283" v="336" actId="14100"/>
          <ac:spMkLst>
            <pc:docMk/>
            <pc:sldMk cId="3286701981" sldId="640"/>
            <ac:spMk id="4" creationId="{CBC1F614-8B20-1750-A035-9E5EE81F1E9D}"/>
          </ac:spMkLst>
        </pc:spChg>
        <pc:spChg chg="mod">
          <ac:chgData name="Daniel Roberts" userId="S::daniel.roberts4@mail.bcu.ac.uk::75271c38-e632-4765-a405-8e8dc3d15425" providerId="AD" clId="Web-{3621F125-8D30-569F-5FED-6D29C84ECEDE}" dt="2026-01-22T12:42:37.848" v="328" actId="20577"/>
          <ac:spMkLst>
            <pc:docMk/>
            <pc:sldMk cId="3286701981" sldId="640"/>
            <ac:spMk id="11" creationId="{C5FB43CD-2679-A2C6-10A8-553F0B1336BE}"/>
          </ac:spMkLst>
        </pc:spChg>
        <pc:picChg chg="del">
          <ac:chgData name="Daniel Roberts" userId="S::daniel.roberts4@mail.bcu.ac.uk::75271c38-e632-4765-a405-8e8dc3d15425" providerId="AD" clId="Web-{3621F125-8D30-569F-5FED-6D29C84ECEDE}" dt="2026-01-22T12:43:17.885" v="333"/>
          <ac:picMkLst>
            <pc:docMk/>
            <pc:sldMk cId="3286701981" sldId="640"/>
            <ac:picMk id="10" creationId="{B70FDB4F-78A5-4D9A-1A3F-62D6AC522A6A}"/>
          </ac:picMkLst>
        </pc:picChg>
        <pc:picChg chg="del">
          <ac:chgData name="Daniel Roberts" userId="S::daniel.roberts4@mail.bcu.ac.uk::75271c38-e632-4765-a405-8e8dc3d15425" providerId="AD" clId="Web-{3621F125-8D30-569F-5FED-6D29C84ECEDE}" dt="2026-01-22T12:43:17.650" v="332"/>
          <ac:picMkLst>
            <pc:docMk/>
            <pc:sldMk cId="3286701981" sldId="640"/>
            <ac:picMk id="1026" creationId="{FCDFF72D-5392-6F4B-3041-5AE3AEBBDB73}"/>
          </ac:picMkLst>
        </pc:picChg>
      </pc:sldChg>
      <pc:sldChg chg="modSp">
        <pc:chgData name="Daniel Roberts" userId="S::daniel.roberts4@mail.bcu.ac.uk::75271c38-e632-4765-a405-8e8dc3d15425" providerId="AD" clId="Web-{3621F125-8D30-569F-5FED-6D29C84ECEDE}" dt="2026-01-22T12:43:14.400" v="331" actId="20577"/>
        <pc:sldMkLst>
          <pc:docMk/>
          <pc:sldMk cId="965088525" sldId="647"/>
        </pc:sldMkLst>
        <pc:spChg chg="mod">
          <ac:chgData name="Daniel Roberts" userId="S::daniel.roberts4@mail.bcu.ac.uk::75271c38-e632-4765-a405-8e8dc3d15425" providerId="AD" clId="Web-{3621F125-8D30-569F-5FED-6D29C84ECEDE}" dt="2026-01-22T12:43:14.400" v="331" actId="20577"/>
          <ac:spMkLst>
            <pc:docMk/>
            <pc:sldMk cId="965088525" sldId="647"/>
            <ac:spMk id="12" creationId="{AFF0F3CE-7B8D-F9BA-A4F9-B0F464E8E1D6}"/>
          </ac:spMkLst>
        </pc:spChg>
      </pc:sldChg>
      <pc:sldChg chg="modSp">
        <pc:chgData name="Daniel Roberts" userId="S::daniel.roberts4@mail.bcu.ac.uk::75271c38-e632-4765-a405-8e8dc3d15425" providerId="AD" clId="Web-{3621F125-8D30-569F-5FED-6D29C84ECEDE}" dt="2026-01-22T11:39:31.698" v="321"/>
        <pc:sldMkLst>
          <pc:docMk/>
          <pc:sldMk cId="1964543969" sldId="656"/>
        </pc:sldMkLst>
        <pc:spChg chg="mod">
          <ac:chgData name="Daniel Roberts" userId="S::daniel.roberts4@mail.bcu.ac.uk::75271c38-e632-4765-a405-8e8dc3d15425" providerId="AD" clId="Web-{3621F125-8D30-569F-5FED-6D29C84ECEDE}" dt="2026-01-22T11:24:40.701" v="16" actId="20577"/>
          <ac:spMkLst>
            <pc:docMk/>
            <pc:sldMk cId="1964543969" sldId="656"/>
            <ac:spMk id="13" creationId="{EAA5328B-DFC2-79CC-EFAF-995AA73DEFB4}"/>
          </ac:spMkLst>
        </pc:spChg>
        <pc:graphicFrameChg chg="mod modGraphic">
          <ac:chgData name="Daniel Roberts" userId="S::daniel.roberts4@mail.bcu.ac.uk::75271c38-e632-4765-a405-8e8dc3d15425" providerId="AD" clId="Web-{3621F125-8D30-569F-5FED-6D29C84ECEDE}" dt="2026-01-22T11:39:31.698" v="321"/>
          <ac:graphicFrameMkLst>
            <pc:docMk/>
            <pc:sldMk cId="1964543969" sldId="656"/>
            <ac:graphicFrameMk id="9" creationId="{8F1E33E3-2DFA-5C44-DDA5-78660DD593A2}"/>
          </ac:graphicFrameMkLst>
        </pc:graphicFrameChg>
      </pc:sldChg>
    </pc:docChg>
  </pc:docChgLst>
</pc:chgInfo>
</file>

<file path=ppt/comments/modernComment_1CE_958870EB.xml><?xml version="1.0" encoding="utf-8"?>
<p188:cmLst xmlns:a="http://schemas.openxmlformats.org/drawingml/2006/main" xmlns:r="http://schemas.openxmlformats.org/officeDocument/2006/relationships" xmlns:p188="http://schemas.microsoft.com/office/powerpoint/2018/8/main">
  <p188:cm id="{3CEDCF8E-872E-42FC-A28A-652DCE0CCA91}" authorId="{AA1973FA-D5F6-882C-5DE8-14B788522945}" created="2025-12-01T18:32:18.160">
    <ac:txMkLst xmlns:ac="http://schemas.microsoft.com/office/drawing/2013/main/command">
      <pc:docMk xmlns:pc="http://schemas.microsoft.com/office/powerpoint/2013/main/command"/>
      <pc:sldMk xmlns:pc="http://schemas.microsoft.com/office/powerpoint/2013/main/command" cId="2508746987" sldId="462"/>
      <ac:spMk id="6" creationId="{D1E838E3-6A1B-8AC4-6461-D65D3E4FF039}"/>
      <ac:txMk cp="0" len="25">
        <ac:context len="29" hash="2593384335"/>
      </ac:txMk>
    </ac:txMkLst>
    <p188:pos x="3597876" y="334449"/>
    <p188:txBody>
      <a:bodyPr/>
      <a:lstStyle/>
      <a:p>
        <a:r>
          <a:rPr lang="en-GB"/>
          <a:t>In the slide identify which team member is talking
Ideally the student who made the final decision on the idea should be the one who presents the elevator pitch summary</a:t>
        </a:r>
      </a:p>
    </p188:txBody>
  </p188:cm>
</p188:cmLst>
</file>

<file path=ppt/comments/modernComment_28A_8D7D5848.xml><?xml version="1.0" encoding="utf-8"?>
<p188:cmLst xmlns:a="http://schemas.openxmlformats.org/drawingml/2006/main" xmlns:r="http://schemas.openxmlformats.org/officeDocument/2006/relationships" xmlns:p188="http://schemas.microsoft.com/office/powerpoint/2018/8/main">
  <p188:cm id="{DF9553D6-20FD-4A4F-B5E8-B0C177CC0826}" authorId="{AA1973FA-D5F6-882C-5DE8-14B788522945}" created="2025-12-01T19:03:00.976">
    <ac:deMkLst xmlns:ac="http://schemas.microsoft.com/office/drawing/2013/main/command">
      <pc:docMk xmlns:pc="http://schemas.microsoft.com/office/powerpoint/2013/main/command"/>
      <pc:sldMk xmlns:pc="http://schemas.microsoft.com/office/powerpoint/2013/main/command" cId="2373802056" sldId="650"/>
      <ac:picMk id="6" creationId="{AA6D55E1-219E-318E-E15F-FB765DF2AFDC}"/>
    </ac:deMkLst>
    <p188:txBody>
      <a:bodyPr/>
      <a:lstStyle/>
      <a:p>
        <a:r>
          <a:rPr lang="en-GB"/>
          <a:t>Consider showing an image here of your tech stack / system, to help demonstrate how your implementation is structured</a:t>
        </a:r>
      </a:p>
    </p188:txBody>
  </p188:cm>
</p188:cmLst>
</file>

<file path=ppt/comments/modernComment_28B_5967DB65.xml><?xml version="1.0" encoding="utf-8"?>
<p188:cmLst xmlns:a="http://schemas.openxmlformats.org/drawingml/2006/main" xmlns:r="http://schemas.openxmlformats.org/officeDocument/2006/relationships" xmlns:p188="http://schemas.microsoft.com/office/powerpoint/2018/8/main">
  <p188:cm id="{83173801-6680-4122-8238-A5B0B039B307}" authorId="{AA1973FA-D5F6-882C-5DE8-14B788522945}" created="2025-12-01T19:03:00.976">
    <ac:deMkLst xmlns:ac="http://schemas.microsoft.com/office/drawing/2013/main/command">
      <pc:docMk xmlns:pc="http://schemas.microsoft.com/office/powerpoint/2013/main/command"/>
      <pc:sldMk xmlns:pc="http://schemas.microsoft.com/office/powerpoint/2013/main/command" cId="1499978597" sldId="651"/>
      <ac:picMk id="6" creationId="{3A4212F6-48D0-B731-70E3-0FDA7D01322F}"/>
    </ac:deMkLst>
    <p188:txBody>
      <a:bodyPr/>
      <a:lstStyle/>
      <a:p>
        <a:r>
          <a:rPr lang="en-GB"/>
          <a:t>Consider showing an image here of your tech stack / system</a:t>
        </a:r>
      </a:p>
    </p188:txBody>
  </p188:cm>
  <p188:cm id="{E1523FF6-05D5-411E-81B9-0406EAF83685}" authorId="{AA1973FA-D5F6-882C-5DE8-14B788522945}" created="2025-12-01T19:07:26.629">
    <ac:deMkLst xmlns:ac="http://schemas.microsoft.com/office/drawing/2013/main/command">
      <pc:docMk xmlns:pc="http://schemas.microsoft.com/office/powerpoint/2013/main/command"/>
      <pc:sldMk xmlns:pc="http://schemas.microsoft.com/office/powerpoint/2013/main/command" cId="1499978597" sldId="651"/>
      <ac:graphicFrameMk id="9" creationId="{C073345B-FCF4-BEA6-2B01-F1FBB56F1479}"/>
    </ac:deMkLst>
    <p188:txBody>
      <a:bodyPr/>
      <a:lstStyle/>
      <a:p>
        <a:r>
          <a:rPr lang="en-GB"/>
          <a:t>Provide a rundown of your major endpoints and how the client can interact with them</a:t>
        </a:r>
      </a:p>
    </p188:txBody>
  </p188:cm>
</p188:cmLst>
</file>

<file path=ppt/comments/modernComment_280_C3E7179D.xml><?xml version="1.0" encoding="utf-8"?>
<p188:cmLst xmlns:a="http://schemas.openxmlformats.org/drawingml/2006/main" xmlns:r="http://schemas.openxmlformats.org/officeDocument/2006/relationships" xmlns:p188="http://schemas.microsoft.com/office/powerpoint/2018/8/main">
  <p188:cm id="{637D2EBE-8C26-4331-AF24-02102DB1372D}" authorId="{AA1973FA-D5F6-882C-5DE8-14B788522945}" created="2025-12-01T18:43:17.050">
    <pc:sldMkLst xmlns:pc="http://schemas.microsoft.com/office/powerpoint/2013/main/command">
      <pc:docMk/>
      <pc:sldMk cId="3569171311" sldId="607"/>
    </pc:sldMkLst>
    <p188:txBody>
      <a:bodyPr/>
      <a:lstStyle/>
      <a:p>
        <a:r>
          <a:rPr lang="en-GB"/>
          <a:t>Consider adding a figure / useful images which shows the specific combination of technologies you and your group are using and how they “fit” together.
This example shows a diagram of a LAMP stack, consider which technologies you and your group are using</a:t>
        </a:r>
      </a:p>
    </p188:txBody>
  </p188:cm>
  <p188:cm id="{047E15B7-0381-4663-B497-94DA826C9444}" authorId="{AA1973FA-D5F6-882C-5DE8-14B788522945}" created="2025-12-01T18:45:30.198">
    <ac:deMkLst xmlns:ac="http://schemas.microsoft.com/office/drawing/2013/main/command">
      <pc:docMk xmlns:pc="http://schemas.microsoft.com/office/powerpoint/2013/main/command"/>
      <pc:sldMk xmlns:pc="http://schemas.microsoft.com/office/powerpoint/2013/main/command" cId="3286701981" sldId="640"/>
      <ac:picMk id="10" creationId="{B70FDB4F-78A5-4D9A-1A3F-62D6AC522A6A}"/>
    </ac:deMkLst>
    <p188:txBody>
      <a:bodyPr/>
      <a:lstStyle/>
      <a:p>
        <a:r>
          <a:rPr lang="en-GB"/>
          <a:t>This particular figure shows a clearer notion of how the internal communication works within the backend system </a:t>
        </a:r>
      </a:p>
    </p188:txBody>
  </p188:cm>
  <p188:cm id="{F64B6A01-A01D-432E-A990-F917FFBBC7D2}" authorId="{AA1973FA-D5F6-882C-5DE8-14B788522945}" created="2025-12-01T18:54:50.717">
    <ac:txMkLst xmlns:ac="http://schemas.microsoft.com/office/drawing/2013/main/command">
      <pc:docMk xmlns:pc="http://schemas.microsoft.com/office/powerpoint/2013/main/command"/>
      <pc:sldMk xmlns:pc="http://schemas.microsoft.com/office/powerpoint/2013/main/command" cId="3286701981" sldId="640"/>
      <ac:spMk id="2" creationId="{1D269158-9958-4A38-4DE2-B679E4496ECA}"/>
      <ac:txMk cp="0" len="10">
        <ac:context len="11" hash="3401755815"/>
      </ac:txMk>
    </ac:txMkLst>
    <p188:pos x="2596978" y="660486"/>
    <p188:txBody>
      <a:bodyPr/>
      <a:lstStyle/>
      <a:p>
        <a:r>
          <a:rPr lang="en-GB"/>
          <a:t>Discuss how each part of the technology stack you and your team are using contributes to making the system work.</a:t>
        </a:r>
      </a:p>
    </p188:txBody>
  </p188:cm>
</p188:cmLst>
</file>

<file path=ppt/comments/modernComment_281_50C3BFFB.xml><?xml version="1.0" encoding="utf-8"?>
<p188:cmLst xmlns:a="http://schemas.openxmlformats.org/drawingml/2006/main" xmlns:r="http://schemas.openxmlformats.org/officeDocument/2006/relationships" xmlns:p188="http://schemas.microsoft.com/office/powerpoint/2018/8/main">
  <p188:cm id="{482D4D31-9CB1-44A5-A5F0-E3B556C3BF31}" authorId="{AA1973FA-D5F6-882C-5DE8-14B788522945}" created="2025-12-01T18:53:59.653">
    <ac:deMkLst xmlns:ac="http://schemas.microsoft.com/office/drawing/2013/main/command">
      <pc:docMk xmlns:pc="http://schemas.microsoft.com/office/powerpoint/2013/main/command"/>
      <pc:sldMk xmlns:pc="http://schemas.microsoft.com/office/powerpoint/2013/main/command" cId="1355005947" sldId="641"/>
      <ac:picMk id="2050" creationId="{5E51E38A-E7B1-5FDA-E9F3-DF53D3CA2316}"/>
    </ac:deMkLst>
    <p188:txBody>
      <a:bodyPr/>
      <a:lstStyle/>
      <a:p>
        <a:r>
          <a:rPr lang="en-GB"/>
          <a:t>Provide a copy of your finalised physical ERD</a:t>
        </a:r>
      </a:p>
    </p188:txBody>
  </p188:cm>
</p188:cmLst>
</file>

<file path=ppt/comments/modernComment_287_3986150D.xml><?xml version="1.0" encoding="utf-8"?>
<p188:cmLst xmlns:a="http://schemas.openxmlformats.org/drawingml/2006/main" xmlns:r="http://schemas.openxmlformats.org/officeDocument/2006/relationships" xmlns:p188="http://schemas.microsoft.com/office/powerpoint/2018/8/main">
  <p188:cm id="{34871427-849C-4326-B2DB-EC6872CB4C0E}" authorId="{AA1973FA-D5F6-882C-5DE8-14B788522945}" created="2025-12-01T18:53:59.653">
    <ac:deMkLst xmlns:ac="http://schemas.microsoft.com/office/drawing/2013/main/command">
      <pc:docMk xmlns:pc="http://schemas.microsoft.com/office/powerpoint/2013/main/command"/>
      <pc:sldMk xmlns:pc="http://schemas.microsoft.com/office/powerpoint/2013/main/command" cId="4167442043" sldId="642"/>
      <ac:picMk id="2050" creationId="{A19BF1C0-9013-D5DB-2EAE-D3429599C551}"/>
    </ac:deMkLst>
    <p188:txBody>
      <a:bodyPr/>
      <a:lstStyle/>
      <a:p>
        <a:r>
          <a:rPr lang="en-GB"/>
          <a:t>Provide a copy of your finalised physical ERD</a:t>
        </a:r>
      </a:p>
    </p188:txBody>
  </p188:cm>
</p188:cmLst>
</file>

<file path=ppt/comments/modernComment_289_36F32AA4.xml><?xml version="1.0" encoding="utf-8"?>
<p188:cmLst xmlns:a="http://schemas.openxmlformats.org/drawingml/2006/main" xmlns:r="http://schemas.openxmlformats.org/officeDocument/2006/relationships" xmlns:p188="http://schemas.microsoft.com/office/powerpoint/2018/8/main">
  <p188:cm id="{F5605336-B1AF-4F12-9362-5E7E7AC6BF42}" authorId="{AA1973FA-D5F6-882C-5DE8-14B788522945}" created="2025-12-01T18:53:59.653">
    <ac:deMkLst xmlns:ac="http://schemas.microsoft.com/office/drawing/2013/main/command">
      <pc:docMk xmlns:pc="http://schemas.microsoft.com/office/powerpoint/2013/main/command"/>
      <pc:sldMk xmlns:pc="http://schemas.microsoft.com/office/powerpoint/2013/main/command" cId="4167442043" sldId="642"/>
      <ac:picMk id="2050" creationId="{A19BF1C0-9013-D5DB-2EAE-D3429599C551}"/>
    </ac:deMkLst>
    <p188:txBody>
      <a:bodyPr/>
      <a:lstStyle/>
      <a:p>
        <a:r>
          <a:rPr lang="en-GB"/>
          <a:t>Provide a copy of your finalised physical ERD</a:t>
        </a:r>
      </a:p>
    </p188:txBody>
  </p188:cm>
</p188:cmLst>
</file>

<file path=ppt/comments/modernComment_290_75188FE1.xml><?xml version="1.0" encoding="utf-8"?>
<p188:cmLst xmlns:a="http://schemas.openxmlformats.org/drawingml/2006/main" xmlns:r="http://schemas.openxmlformats.org/officeDocument/2006/relationships" xmlns:p188="http://schemas.microsoft.com/office/powerpoint/2018/8/main">
  <p188:cm id="{66E48E6D-F1CC-4A03-A271-A0F8BEF503A9}" authorId="{AA1973FA-D5F6-882C-5DE8-14B788522945}" created="2025-12-01T19:03:00.976">
    <ac:deMkLst xmlns:ac="http://schemas.microsoft.com/office/drawing/2013/main/command">
      <pc:docMk xmlns:pc="http://schemas.microsoft.com/office/powerpoint/2013/main/command"/>
      <pc:sldMk xmlns:pc="http://schemas.microsoft.com/office/powerpoint/2013/main/command" cId="1499978597" sldId="651"/>
      <ac:picMk id="6" creationId="{3A4212F6-48D0-B731-70E3-0FDA7D01322F}"/>
    </ac:deMkLst>
    <p188:txBody>
      <a:bodyPr/>
      <a:lstStyle/>
      <a:p>
        <a:r>
          <a:rPr lang="en-GB"/>
          <a:t>Consider showing an image here of your tech stack / system</a:t>
        </a:r>
      </a:p>
    </p188:txBody>
  </p188:cm>
  <p188:cm id="{6297BD93-E8B0-43AE-B603-86C627D5A0CD}" authorId="{AA1973FA-D5F6-882C-5DE8-14B788522945}" created="2025-12-01T19:07:26.629">
    <ac:deMkLst xmlns:ac="http://schemas.microsoft.com/office/drawing/2013/main/command">
      <pc:docMk xmlns:pc="http://schemas.microsoft.com/office/powerpoint/2013/main/command"/>
      <pc:sldMk xmlns:pc="http://schemas.microsoft.com/office/powerpoint/2013/main/command" cId="1964543969" sldId="656"/>
      <ac:graphicFrameMk id="9" creationId="{8F1E33E3-2DFA-5C44-DDA5-78660DD593A2}"/>
    </ac:deMkLst>
    <p188:txBody>
      <a:bodyPr/>
      <a:lstStyle/>
      <a:p>
        <a:r>
          <a:rPr lang="en-GB"/>
          <a:t>Provide a rundown of your major endpoints and how the client can interact with them</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7B85D-C78C-47BD-81EF-076BAD2008F2}" type="datetimeFigureOut">
              <a:rPr lang="en-GB" smtClean="0"/>
              <a:t>22/01/2026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DCA692-8F97-4A87-81E8-F202EFDD0518}" type="slidenum">
              <a:rPr lang="en-GB" smtClean="0"/>
              <a:t>‹#›</a:t>
            </a:fld>
            <a:endParaRPr lang="en-GB"/>
          </a:p>
        </p:txBody>
      </p:sp>
    </p:spTree>
    <p:extLst>
      <p:ext uri="{BB962C8B-B14F-4D97-AF65-F5344CB8AC3E}">
        <p14:creationId xmlns:p14="http://schemas.microsoft.com/office/powerpoint/2010/main" val="1435849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our D3 project submission for CMP5387 our group was: student 1, student 2, student 3, student 4, and student 4”</a:t>
            </a:r>
          </a:p>
          <a:p>
            <a:endParaRPr lang="en-GB" dirty="0"/>
          </a:p>
          <a:p>
            <a:r>
              <a:rPr lang="en-GB" dirty="0"/>
              <a:t>Note: You should not specify their student IDs or email addresses verbally, just their names</a:t>
            </a:r>
          </a:p>
          <a:p>
            <a:r>
              <a:rPr lang="en-GB" dirty="0"/>
              <a:t>The presence of this other info in the slide is enough.</a:t>
            </a:r>
          </a:p>
          <a:p>
            <a:endParaRPr lang="en-GB" dirty="0"/>
          </a:p>
          <a:p>
            <a:r>
              <a:rPr lang="en-GB" dirty="0"/>
              <a:t>Don’t spend too long on this slide just introduce the team members and move ahead, this shouldn’t be more than a few seconds long.</a:t>
            </a:r>
          </a:p>
        </p:txBody>
      </p:sp>
      <p:sp>
        <p:nvSpPr>
          <p:cNvPr id="4" name="Slide Number Placeholder 3"/>
          <p:cNvSpPr>
            <a:spLocks noGrp="1"/>
          </p:cNvSpPr>
          <p:nvPr>
            <p:ph type="sldNum" sz="quarter" idx="5"/>
          </p:nvPr>
        </p:nvSpPr>
        <p:spPr/>
        <p:txBody>
          <a:bodyPr/>
          <a:lstStyle/>
          <a:p>
            <a:fld id="{63DCA692-8F97-4A87-81E8-F202EFDD0518}" type="slidenum">
              <a:rPr lang="en-GB" smtClean="0"/>
              <a:t>1</a:t>
            </a:fld>
            <a:endParaRPr lang="en-GB"/>
          </a:p>
        </p:txBody>
      </p:sp>
    </p:spTree>
    <p:extLst>
      <p:ext uri="{BB962C8B-B14F-4D97-AF65-F5344CB8AC3E}">
        <p14:creationId xmlns:p14="http://schemas.microsoft.com/office/powerpoint/2010/main" val="3048540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Spend only a few seconds stating the title of the project idea, don’t waste too much time on this slide it shouldn’t be more than a few seconds long.</a:t>
            </a:r>
          </a:p>
        </p:txBody>
      </p:sp>
      <p:sp>
        <p:nvSpPr>
          <p:cNvPr id="4" name="Slide Number Placeholder 3"/>
          <p:cNvSpPr>
            <a:spLocks noGrp="1"/>
          </p:cNvSpPr>
          <p:nvPr>
            <p:ph type="sldNum" sz="quarter" idx="5"/>
          </p:nvPr>
        </p:nvSpPr>
        <p:spPr/>
        <p:txBody>
          <a:bodyPr/>
          <a:lstStyle/>
          <a:p>
            <a:fld id="{63DCA692-8F97-4A87-81E8-F202EFDD0518}" type="slidenum">
              <a:rPr lang="en-GB" smtClean="0"/>
              <a:t>2</a:t>
            </a:fld>
            <a:endParaRPr lang="en-GB"/>
          </a:p>
        </p:txBody>
      </p:sp>
    </p:spTree>
    <p:extLst>
      <p:ext uri="{BB962C8B-B14F-4D97-AF65-F5344CB8AC3E}">
        <p14:creationId xmlns:p14="http://schemas.microsoft.com/office/powerpoint/2010/main" val="1760862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of this section will have already been discussed in your questionnaire form submission and your planning and design document, as such keep things succinct and focus on the major important aspects you want to draw the audience’s attention to</a:t>
            </a:r>
            <a:br>
              <a:rPr lang="en-GB" dirty="0"/>
            </a:br>
            <a:br>
              <a:rPr lang="en-GB" dirty="0"/>
            </a:br>
            <a:r>
              <a:rPr lang="en-GB" dirty="0"/>
              <a:t>Estimated time: 2-4 minutes</a:t>
            </a:r>
          </a:p>
        </p:txBody>
      </p:sp>
      <p:sp>
        <p:nvSpPr>
          <p:cNvPr id="4" name="Slide Number Placeholder 3"/>
          <p:cNvSpPr>
            <a:spLocks noGrp="1"/>
          </p:cNvSpPr>
          <p:nvPr>
            <p:ph type="sldNum" sz="quarter" idx="5"/>
          </p:nvPr>
        </p:nvSpPr>
        <p:spPr/>
        <p:txBody>
          <a:bodyPr/>
          <a:lstStyle/>
          <a:p>
            <a:fld id="{63DCA692-8F97-4A87-81E8-F202EFDD0518}" type="slidenum">
              <a:rPr lang="en-GB" smtClean="0"/>
              <a:t>3</a:t>
            </a:fld>
            <a:endParaRPr lang="en-GB"/>
          </a:p>
        </p:txBody>
      </p:sp>
    </p:spTree>
    <p:extLst>
      <p:ext uri="{BB962C8B-B14F-4D97-AF65-F5344CB8AC3E}">
        <p14:creationId xmlns:p14="http://schemas.microsoft.com/office/powerpoint/2010/main" val="2009969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Spend no more than a minute or so on this</a:t>
            </a:r>
          </a:p>
          <a:p>
            <a:pPr marL="171450" indent="-171450">
              <a:buFont typeface="Arial"/>
              <a:buChar char="•"/>
            </a:pPr>
            <a:r>
              <a:rPr lang="en-GB" b="1"/>
              <a:t>Students:</a:t>
            </a:r>
            <a:r>
              <a:rPr lang="en-GB"/>
              <a:t> register/login, set interests, join/unjoin societies, view recommendations and events.</a:t>
            </a:r>
            <a:endParaRPr lang="en-GB">
              <a:ea typeface="Calibri"/>
              <a:cs typeface="Calibri"/>
            </a:endParaRPr>
          </a:p>
          <a:p>
            <a:pPr marL="171450" indent="-171450">
              <a:buFont typeface="Arial"/>
              <a:buChar char="•"/>
            </a:pPr>
            <a:r>
              <a:rPr lang="en-GB" b="1"/>
              <a:t>Society leaders/owners:</a:t>
            </a:r>
            <a:r>
              <a:rPr lang="en-GB"/>
              <a:t> create and manage societies, add/remove leaders, create/manage events and interests.</a:t>
            </a:r>
            <a:endParaRPr lang="en-GB">
              <a:ea typeface="Calibri"/>
              <a:cs typeface="Calibri"/>
            </a:endParaRPr>
          </a:p>
          <a:p>
            <a:pPr marL="171450" indent="-171450">
              <a:buFont typeface="Arial"/>
              <a:buChar char="•"/>
            </a:pPr>
            <a:r>
              <a:rPr lang="en-GB" b="1"/>
              <a:t>Administrators:</a:t>
            </a:r>
            <a:r>
              <a:rPr lang="en-GB"/>
              <a:t> site-wide management (create/remove communities, manage users, override/approve actions).</a:t>
            </a:r>
            <a:endParaRPr lang="en-GB">
              <a:ea typeface="Calibri"/>
              <a:cs typeface="Calibri"/>
            </a:endParaRPr>
          </a:p>
          <a:p>
            <a:pPr marL="171450" indent="-171450">
              <a:buFont typeface="Arial"/>
              <a:buChar char="•"/>
            </a:pPr>
            <a:r>
              <a:rPr lang="en-GB" b="1"/>
              <a:t>University staff / Student union:</a:t>
            </a:r>
            <a:r>
              <a:rPr lang="en-GB"/>
              <a:t> oversight, reporting, policy enforcement.</a:t>
            </a:r>
            <a:endParaRPr lang="en-GB">
              <a:ea typeface="Calibri"/>
              <a:cs typeface="Calibri"/>
            </a:endParaRPr>
          </a:p>
          <a:p>
            <a:pPr marL="171450" indent="-171450">
              <a:buFont typeface="Arial"/>
              <a:buChar char="•"/>
            </a:pPr>
            <a:r>
              <a:rPr lang="en-GB" b="1"/>
              <a:t>Developers / Maintainers:</a:t>
            </a:r>
            <a:r>
              <a:rPr lang="en-GB"/>
              <a:t> deploy, fix, and extend the application.</a:t>
            </a:r>
            <a:endParaRPr lang="en-GB">
              <a:ea typeface="Calibri"/>
              <a:cs typeface="Calibri"/>
            </a:endParaRPr>
          </a:p>
          <a:p>
            <a:endParaRPr lang="en-GB">
              <a:ea typeface="Calibri"/>
              <a:cs typeface="Calibri"/>
            </a:endParaRPr>
          </a:p>
        </p:txBody>
      </p:sp>
      <p:sp>
        <p:nvSpPr>
          <p:cNvPr id="4" name="Slide Number Placeholder 3"/>
          <p:cNvSpPr>
            <a:spLocks noGrp="1"/>
          </p:cNvSpPr>
          <p:nvPr>
            <p:ph type="sldNum" sz="quarter" idx="5"/>
          </p:nvPr>
        </p:nvSpPr>
        <p:spPr/>
        <p:txBody>
          <a:bodyPr/>
          <a:lstStyle/>
          <a:p>
            <a:fld id="{63DCA692-8F97-4A87-81E8-F202EFDD0518}" type="slidenum">
              <a:rPr lang="en-GB" smtClean="0"/>
              <a:t>4</a:t>
            </a:fld>
            <a:endParaRPr lang="en-GB"/>
          </a:p>
        </p:txBody>
      </p:sp>
    </p:spTree>
    <p:extLst>
      <p:ext uri="{BB962C8B-B14F-4D97-AF65-F5344CB8AC3E}">
        <p14:creationId xmlns:p14="http://schemas.microsoft.com/office/powerpoint/2010/main" val="1241626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Spend no more than a minute or so on this</a:t>
            </a:r>
          </a:p>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5</a:t>
            </a:fld>
            <a:endParaRPr lang="en-GB"/>
          </a:p>
        </p:txBody>
      </p:sp>
    </p:spTree>
    <p:extLst>
      <p:ext uri="{BB962C8B-B14F-4D97-AF65-F5344CB8AC3E}">
        <p14:creationId xmlns:p14="http://schemas.microsoft.com/office/powerpoint/2010/main" val="1704090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128C-CE87-929B-85BA-630F38EF6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353F4-1DDA-E597-0DC1-B226AA3CE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88B4F-1096-D5C8-0826-AE6F95F765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Discuss how each part of the technology stack you and your team are using contributes to making the system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Consider using images / creating diagrams to help support your discussion</a:t>
            </a:r>
          </a:p>
          <a:p>
            <a:endParaRPr lang="en-GB" dirty="0"/>
          </a:p>
        </p:txBody>
      </p:sp>
      <p:sp>
        <p:nvSpPr>
          <p:cNvPr id="4" name="Slide Number Placeholder 3">
            <a:extLst>
              <a:ext uri="{FF2B5EF4-FFF2-40B4-BE49-F238E27FC236}">
                <a16:creationId xmlns:a16="http://schemas.microsoft.com/office/drawing/2014/main" id="{FC405E9F-8B07-B914-B633-2264D39EB7C2}"/>
              </a:ext>
            </a:extLst>
          </p:cNvPr>
          <p:cNvSpPr>
            <a:spLocks noGrp="1"/>
          </p:cNvSpPr>
          <p:nvPr>
            <p:ph type="sldNum" sz="quarter" idx="5"/>
          </p:nvPr>
        </p:nvSpPr>
        <p:spPr/>
        <p:txBody>
          <a:bodyPr/>
          <a:lstStyle/>
          <a:p>
            <a:fld id="{63DCA692-8F97-4A87-81E8-F202EFDD0518}" type="slidenum">
              <a:rPr lang="en-GB" smtClean="0"/>
              <a:t>6</a:t>
            </a:fld>
            <a:endParaRPr lang="en-GB"/>
          </a:p>
        </p:txBody>
      </p:sp>
    </p:spTree>
    <p:extLst>
      <p:ext uri="{BB962C8B-B14F-4D97-AF65-F5344CB8AC3E}">
        <p14:creationId xmlns:p14="http://schemas.microsoft.com/office/powerpoint/2010/main" val="3757743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Estimated time: 3-6 minutes</a:t>
            </a:r>
          </a:p>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7</a:t>
            </a:fld>
            <a:endParaRPr lang="en-GB"/>
          </a:p>
        </p:txBody>
      </p:sp>
    </p:spTree>
    <p:extLst>
      <p:ext uri="{BB962C8B-B14F-4D97-AF65-F5344CB8AC3E}">
        <p14:creationId xmlns:p14="http://schemas.microsoft.com/office/powerpoint/2010/main" val="575221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Justify your database design approach</a:t>
            </a:r>
          </a:p>
          <a:p>
            <a:r>
              <a:rPr lang="en-GB" dirty="0"/>
              <a:t>How are you:</a:t>
            </a:r>
          </a:p>
          <a:p>
            <a:pPr marL="171450" indent="-171450">
              <a:buFont typeface="Arial" panose="020B0604020202020204" pitchFamily="34" charset="0"/>
              <a:buChar char="•"/>
            </a:pPr>
            <a:r>
              <a:rPr lang="en-GB" dirty="0"/>
              <a:t>Capturing all the data necessary for the system?</a:t>
            </a:r>
          </a:p>
          <a:p>
            <a:pPr marL="171450" indent="-171450">
              <a:buFont typeface="Arial" panose="020B0604020202020204" pitchFamily="34" charset="0"/>
              <a:buChar char="•"/>
            </a:pPr>
            <a:r>
              <a:rPr lang="en-GB" dirty="0"/>
              <a:t>Minimising duplication?</a:t>
            </a:r>
          </a:p>
          <a:p>
            <a:pPr marL="171450" indent="-171450">
              <a:buFont typeface="Arial" panose="020B0604020202020204" pitchFamily="34" charset="0"/>
              <a:buChar char="•"/>
            </a:pPr>
            <a:r>
              <a:rPr lang="en-GB" dirty="0"/>
              <a:t>Providing a flexible structure which could be extended in the future?</a:t>
            </a:r>
          </a:p>
          <a:p>
            <a:endParaRPr lang="en-GB" dirty="0"/>
          </a:p>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8</a:t>
            </a:fld>
            <a:endParaRPr lang="en-GB"/>
          </a:p>
        </p:txBody>
      </p:sp>
    </p:spTree>
    <p:extLst>
      <p:ext uri="{BB962C8B-B14F-4D97-AF65-F5344CB8AC3E}">
        <p14:creationId xmlns:p14="http://schemas.microsoft.com/office/powerpoint/2010/main" val="3746125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 the implementation, linking the code with the physical design</a:t>
            </a:r>
          </a:p>
        </p:txBody>
      </p:sp>
      <p:sp>
        <p:nvSpPr>
          <p:cNvPr id="4" name="Slide Number Placeholder 3"/>
          <p:cNvSpPr>
            <a:spLocks noGrp="1"/>
          </p:cNvSpPr>
          <p:nvPr>
            <p:ph type="sldNum" sz="quarter" idx="5"/>
          </p:nvPr>
        </p:nvSpPr>
        <p:spPr/>
        <p:txBody>
          <a:bodyPr/>
          <a:lstStyle/>
          <a:p>
            <a:fld id="{63DCA692-8F97-4A87-81E8-F202EFDD0518}" type="slidenum">
              <a:rPr lang="en-GB" smtClean="0"/>
              <a:t>9</a:t>
            </a:fld>
            <a:endParaRPr lang="en-GB"/>
          </a:p>
        </p:txBody>
      </p:sp>
    </p:spTree>
    <p:extLst>
      <p:ext uri="{BB962C8B-B14F-4D97-AF65-F5344CB8AC3E}">
        <p14:creationId xmlns:p14="http://schemas.microsoft.com/office/powerpoint/2010/main" val="3442082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Discuss the implementation, linking the code with the physical design</a:t>
            </a:r>
          </a:p>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10</a:t>
            </a:fld>
            <a:endParaRPr lang="en-GB"/>
          </a:p>
        </p:txBody>
      </p:sp>
    </p:spTree>
    <p:extLst>
      <p:ext uri="{BB962C8B-B14F-4D97-AF65-F5344CB8AC3E}">
        <p14:creationId xmlns:p14="http://schemas.microsoft.com/office/powerpoint/2010/main" val="1776434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Estimated time: 3-6 minutes</a:t>
            </a:r>
          </a:p>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11</a:t>
            </a:fld>
            <a:endParaRPr lang="en-GB"/>
          </a:p>
        </p:txBody>
      </p:sp>
    </p:spTree>
    <p:extLst>
      <p:ext uri="{BB962C8B-B14F-4D97-AF65-F5344CB8AC3E}">
        <p14:creationId xmlns:p14="http://schemas.microsoft.com/office/powerpoint/2010/main" val="2059045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13</a:t>
            </a:fld>
            <a:endParaRPr lang="en-GB"/>
          </a:p>
        </p:txBody>
      </p:sp>
    </p:spTree>
    <p:extLst>
      <p:ext uri="{BB962C8B-B14F-4D97-AF65-F5344CB8AC3E}">
        <p14:creationId xmlns:p14="http://schemas.microsoft.com/office/powerpoint/2010/main" val="2057484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3D834-F00F-DAA7-A619-DB4B237C1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115335-5B4F-8632-8182-0C5409781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EA96C-2D27-C326-0D8D-5441E9D7586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DA63B7-9D22-917B-C94E-E982A82AA929}"/>
              </a:ext>
            </a:extLst>
          </p:cNvPr>
          <p:cNvSpPr>
            <a:spLocks noGrp="1"/>
          </p:cNvSpPr>
          <p:nvPr>
            <p:ph type="sldNum" sz="quarter" idx="5"/>
          </p:nvPr>
        </p:nvSpPr>
        <p:spPr/>
        <p:txBody>
          <a:bodyPr/>
          <a:lstStyle/>
          <a:p>
            <a:fld id="{63DCA692-8F97-4A87-81E8-F202EFDD0518}" type="slidenum">
              <a:rPr lang="en-GB" smtClean="0"/>
              <a:t>14</a:t>
            </a:fld>
            <a:endParaRPr lang="en-GB"/>
          </a:p>
        </p:txBody>
      </p:sp>
    </p:spTree>
    <p:extLst>
      <p:ext uri="{BB962C8B-B14F-4D97-AF65-F5344CB8AC3E}">
        <p14:creationId xmlns:p14="http://schemas.microsoft.com/office/powerpoint/2010/main" val="3530664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15</a:t>
            </a:fld>
            <a:endParaRPr lang="en-GB"/>
          </a:p>
        </p:txBody>
      </p:sp>
    </p:spTree>
    <p:extLst>
      <p:ext uri="{BB962C8B-B14F-4D97-AF65-F5344CB8AC3E}">
        <p14:creationId xmlns:p14="http://schemas.microsoft.com/office/powerpoint/2010/main" val="2544000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Estimated time: 2-4 minutes</a:t>
            </a:r>
          </a:p>
        </p:txBody>
      </p:sp>
      <p:sp>
        <p:nvSpPr>
          <p:cNvPr id="4" name="Slide Number Placeholder 3"/>
          <p:cNvSpPr>
            <a:spLocks noGrp="1"/>
          </p:cNvSpPr>
          <p:nvPr>
            <p:ph type="sldNum" sz="quarter" idx="5"/>
          </p:nvPr>
        </p:nvSpPr>
        <p:spPr/>
        <p:txBody>
          <a:bodyPr/>
          <a:lstStyle/>
          <a:p>
            <a:fld id="{63DCA692-8F97-4A87-81E8-F202EFDD0518}" type="slidenum">
              <a:rPr lang="en-GB" smtClean="0"/>
              <a:t>16</a:t>
            </a:fld>
            <a:endParaRPr lang="en-GB"/>
          </a:p>
        </p:txBody>
      </p:sp>
    </p:spTree>
    <p:extLst>
      <p:ext uri="{BB962C8B-B14F-4D97-AF65-F5344CB8AC3E}">
        <p14:creationId xmlns:p14="http://schemas.microsoft.com/office/powerpoint/2010/main" val="2323833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17</a:t>
            </a:fld>
            <a:endParaRPr lang="en-GB"/>
          </a:p>
        </p:txBody>
      </p:sp>
    </p:spTree>
    <p:extLst>
      <p:ext uri="{BB962C8B-B14F-4D97-AF65-F5344CB8AC3E}">
        <p14:creationId xmlns:p14="http://schemas.microsoft.com/office/powerpoint/2010/main" val="2184415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3DCA692-8F97-4A87-81E8-F202EFDD0518}" type="slidenum">
              <a:rPr lang="en-GB" smtClean="0"/>
              <a:t>18</a:t>
            </a:fld>
            <a:endParaRPr lang="en-GB"/>
          </a:p>
        </p:txBody>
      </p:sp>
    </p:spTree>
    <p:extLst>
      <p:ext uri="{BB962C8B-B14F-4D97-AF65-F5344CB8AC3E}">
        <p14:creationId xmlns:p14="http://schemas.microsoft.com/office/powerpoint/2010/main" val="2577478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Further advice and guidance regarding this will be released in the coming weeks.</a:t>
            </a:r>
          </a:p>
          <a:p>
            <a:endParaRPr lang="en-GB" dirty="0"/>
          </a:p>
          <a:p>
            <a:r>
              <a:rPr lang="en-GB" dirty="0"/>
              <a:t>In the meantime, consider that the video is an opportunity to present the most valuable contributions of each group member to the project, each group member should be able to demonstrate they have contributed to </a:t>
            </a:r>
            <a:r>
              <a:rPr lang="en-GB" b="1" dirty="0"/>
              <a:t>both</a:t>
            </a:r>
            <a:r>
              <a:rPr lang="en-GB" dirty="0"/>
              <a:t> the database design / implementation </a:t>
            </a:r>
            <a:r>
              <a:rPr lang="en-GB" b="1" dirty="0"/>
              <a:t>and</a:t>
            </a:r>
            <a:r>
              <a:rPr lang="en-GB" dirty="0"/>
              <a:t> the web service / client design and implementation to demonstrate they have met the learning outcomes for the module.</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Remember the assessment asks that you demonstrate the four learning outcomes throughout the module:</a:t>
            </a:r>
          </a:p>
          <a:p>
            <a:pPr marL="171450" indent="-171450">
              <a:buFont typeface="Arial" panose="020B0604020202020204" pitchFamily="34" charset="0"/>
              <a:buChar char="•"/>
            </a:pPr>
            <a:r>
              <a:rPr lang="en-GB" dirty="0"/>
              <a:t>Identify, document, and model the planning and design requirements for a given backend web service, by leveraging appropriate software engineering technique</a:t>
            </a:r>
          </a:p>
          <a:p>
            <a:pPr marL="171450" indent="-171450">
              <a:buFont typeface="Arial" panose="020B0604020202020204" pitchFamily="34" charset="0"/>
              <a:buChar char="•"/>
            </a:pPr>
            <a:r>
              <a:rPr lang="en-GB" dirty="0"/>
              <a:t>Design and construct a well justified and appropriate Database architecture, using an appropriate assortment of query languages and tools on a host DBMS (e.g. SQL for RDBMS system, GQL/Cypher for GDBMS, etc). </a:t>
            </a:r>
          </a:p>
          <a:p>
            <a:pPr marL="171450" indent="-171450">
              <a:buFont typeface="Arial" panose="020B0604020202020204" pitchFamily="34" charset="0"/>
              <a:buChar char="•"/>
            </a:pPr>
            <a:r>
              <a:rPr lang="en-GB" dirty="0"/>
              <a:t>Demonstrate development skills through the planning and implementation of a sufficiently justified backend web service and effectively link this with a client system using an assortment of appropriate tools and techniques (e.g. leveraging web microframeworks for the backend, with client-side scripting in JavaScript) </a:t>
            </a:r>
          </a:p>
          <a:p>
            <a:pPr marL="171450" indent="-171450">
              <a:buFont typeface="Arial" panose="020B0604020202020204" pitchFamily="34" charset="0"/>
              <a:buChar char="•"/>
            </a:pPr>
            <a:r>
              <a:rPr lang="en-GB" dirty="0"/>
              <a:t>Evidence the ability to critique and evaluate the capabilities of the system, and defend the overall approach taken in terms of its suitability to meet an appropriate set of requirements (functional and non-functional). </a:t>
            </a:r>
          </a:p>
        </p:txBody>
      </p:sp>
      <p:sp>
        <p:nvSpPr>
          <p:cNvPr id="4" name="Slide Number Placeholder 3"/>
          <p:cNvSpPr>
            <a:spLocks noGrp="1"/>
          </p:cNvSpPr>
          <p:nvPr>
            <p:ph type="sldNum" sz="quarter" idx="5"/>
          </p:nvPr>
        </p:nvSpPr>
        <p:spPr/>
        <p:txBody>
          <a:bodyPr/>
          <a:lstStyle/>
          <a:p>
            <a:fld id="{63DCA692-8F97-4A87-81E8-F202EFDD0518}" type="slidenum">
              <a:rPr lang="en-GB" smtClean="0"/>
              <a:t>19</a:t>
            </a:fld>
            <a:endParaRPr lang="en-GB"/>
          </a:p>
        </p:txBody>
      </p:sp>
    </p:spTree>
    <p:extLst>
      <p:ext uri="{BB962C8B-B14F-4D97-AF65-F5344CB8AC3E}">
        <p14:creationId xmlns:p14="http://schemas.microsoft.com/office/powerpoint/2010/main" val="2531621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38F861F-8733-4AEB-9569-996AA9A2477B}" type="datetime1">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8B298C1-273B-412B-8F15-1432C1D7E85A}" type="datetime1">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B15A619-AC2B-4B9C-9438-A748EDE50ED9}" type="datetime1">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BFD938B-50EF-430B-A722-9213FC37F715}" type="datetime1">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F3B537B-694E-4B80-BB58-EF62CAC29BA1}" type="datetime1">
              <a:rPr lang="en-GB" smtClean="0"/>
              <a:t>22/01/2026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292E2F6-09EE-4A2D-877A-38FB6DBA0FEE}" type="datetime1">
              <a:rPr lang="en-GB" smtClean="0"/>
              <a:t>22/01/2026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24236E-9404-45B8-9E7F-5A73C281E703}" type="datetime1">
              <a:rPr lang="en-GB" smtClean="0"/>
              <a:t>22/01/2026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45A0E31-C57D-4817-8129-F6554F04ACE6}" type="datetime1">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8190C1-FA57-48F7-BECE-4DB2F51C55E1}" type="datetime1">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250FD15-CC6A-4399-9E09-147017760569}" type="datetime1">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3C46552-584E-4E00-BC9A-62D4F8077865}" type="datetime1">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562D212-6087-423C-AFFF-BF351400B1FF}" type="slidenum">
              <a:rPr lang="en-GB" smtClean="0"/>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B31783B-B81A-4B51-8184-CF9011A4B98D}" type="datetimeFigureOut">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1764813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B31783B-B81A-4B51-8184-CF9011A4B98D}" type="datetimeFigureOut">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3756693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31783B-B81A-4B51-8184-CF9011A4B98D}" type="datetimeFigureOut">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3020894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AB31783B-B81A-4B51-8184-CF9011A4B98D}" type="datetimeFigureOut">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1035151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B31783B-B81A-4B51-8184-CF9011A4B98D}" type="datetimeFigureOut">
              <a:rPr lang="en-GB" smtClean="0"/>
              <a:t>22/01/2026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29077285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B31783B-B81A-4B51-8184-CF9011A4B98D}" type="datetimeFigureOut">
              <a:rPr lang="en-GB" smtClean="0"/>
              <a:t>22/01/2026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17213034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31783B-B81A-4B51-8184-CF9011A4B98D}" type="datetimeFigureOut">
              <a:rPr lang="en-GB" smtClean="0"/>
              <a:t>22/01/2026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2768261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31783B-B81A-4B51-8184-CF9011A4B98D}" type="datetimeFigureOut">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2823012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31783B-B81A-4B51-8184-CF9011A4B98D}" type="datetimeFigureOut">
              <a:rPr lang="en-GB" smtClean="0"/>
              <a:t>22/01/2026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21588495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B31783B-B81A-4B51-8184-CF9011A4B98D}" type="datetimeFigureOut">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1725147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B31783B-B81A-4B51-8184-CF9011A4B98D}" type="datetimeFigureOut">
              <a:rPr lang="en-GB" smtClean="0"/>
              <a:t>22/01/2026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9C8B8D-45C3-4FAC-A7D7-AF264CAE7C3C}" type="slidenum">
              <a:rPr lang="en-GB" smtClean="0"/>
              <a:t>‹#›</a:t>
            </a:fld>
            <a:endParaRPr lang="en-GB"/>
          </a:p>
        </p:txBody>
      </p:sp>
    </p:spTree>
    <p:extLst>
      <p:ext uri="{BB962C8B-B14F-4D97-AF65-F5344CB8AC3E}">
        <p14:creationId xmlns:p14="http://schemas.microsoft.com/office/powerpoint/2010/main" val="34233647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700" y="685800"/>
            <a:ext cx="10021321" cy="3048000"/>
          </a:xfrm>
          <a:prstGeom prst="rect">
            <a:avLst/>
          </a:prstGeo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699" y="4343400"/>
            <a:ext cx="10021323" cy="1447800"/>
          </a:xfrm>
          <a:prstGeom prst="rect">
            <a:avLst/>
          </a:prstGeo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811573" y="6116071"/>
            <a:ext cx="1143297" cy="365125"/>
          </a:xfrm>
          <a:prstGeom prst="rect">
            <a:avLst/>
          </a:prstGeom>
        </p:spPr>
        <p:txBody>
          <a:bodyPr/>
          <a:lstStyle/>
          <a:p>
            <a:fld id="{B8246814-1D7F-482E-8907-7422CBC7CDCD}" type="datetimeFigureOut">
              <a:rPr lang="en-GB" smtClean="0">
                <a:solidFill>
                  <a:prstClr val="black"/>
                </a:solidFill>
              </a:rPr>
              <a:pPr/>
              <a:t>22/01/2026</a:t>
            </a:fld>
            <a:endParaRPr lang="en-GB">
              <a:solidFill>
                <a:prstClr val="black"/>
              </a:solidFill>
            </a:endParaRPr>
          </a:p>
        </p:txBody>
      </p:sp>
      <p:sp>
        <p:nvSpPr>
          <p:cNvPr id="5" name="Footer Placeholder 4"/>
          <p:cNvSpPr>
            <a:spLocks noGrp="1"/>
          </p:cNvSpPr>
          <p:nvPr>
            <p:ph type="ftr" sz="quarter" idx="11"/>
          </p:nvPr>
        </p:nvSpPr>
        <p:spPr>
          <a:xfrm>
            <a:off x="2649330" y="6116071"/>
            <a:ext cx="7086023" cy="365125"/>
          </a:xfrm>
          <a:prstGeom prst="rect">
            <a:avLst/>
          </a:prstGeom>
        </p:spPr>
        <p:txBody>
          <a:bodyPr/>
          <a:lstStyle/>
          <a:p>
            <a:endParaRPr lang="en-GB">
              <a:solidFill>
                <a:prstClr val="black"/>
              </a:solidFill>
            </a:endParaRPr>
          </a:p>
        </p:txBody>
      </p:sp>
      <p:sp>
        <p:nvSpPr>
          <p:cNvPr id="6" name="Slide Number Placeholder 5"/>
          <p:cNvSpPr>
            <a:spLocks noGrp="1"/>
          </p:cNvSpPr>
          <p:nvPr>
            <p:ph type="sldNum" sz="quarter" idx="12"/>
          </p:nvPr>
        </p:nvSpPr>
        <p:spPr>
          <a:xfrm>
            <a:off x="11031090" y="6116071"/>
            <a:ext cx="551311" cy="365125"/>
          </a:xfrm>
          <a:prstGeom prst="rect">
            <a:avLst/>
          </a:prstGeom>
        </p:spPr>
        <p:txBody>
          <a:bodyPr/>
          <a:lstStyle/>
          <a:p>
            <a:fld id="{2B916550-B63D-43D7-B895-69C79B3F8ADF}" type="slidenum">
              <a:rPr lang="en-GB" smtClean="0">
                <a:solidFill>
                  <a:prstClr val="black"/>
                </a:solidFill>
              </a:rPr>
              <a:pPr/>
              <a:t>‹#›</a:t>
            </a:fld>
            <a:endParaRPr lang="en-GB">
              <a:solidFill>
                <a:prstClr val="black"/>
              </a:solidFill>
            </a:endParaRPr>
          </a:p>
        </p:txBody>
      </p:sp>
    </p:spTree>
    <p:extLst>
      <p:ext uri="{BB962C8B-B14F-4D97-AF65-F5344CB8AC3E}">
        <p14:creationId xmlns:p14="http://schemas.microsoft.com/office/powerpoint/2010/main" val="4223491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8FAAAA-B3A5-4DA3-A332-81D59ECFD084}" type="datetime1">
              <a:rPr lang="en-GB" smtClean="0"/>
              <a:t>22/01/2026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2D212-6087-423C-AFFF-BF351400B1FF}"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1783B-B81A-4B51-8184-CF9011A4B98D}" type="datetimeFigureOut">
              <a:rPr lang="en-GB" smtClean="0"/>
              <a:t>22/01/2026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9C8B8D-45C3-4FAC-A7D7-AF264CAE7C3C}" type="slidenum">
              <a:rPr lang="en-GB" smtClean="0"/>
              <a:t>‹#›</a:t>
            </a:fld>
            <a:endParaRPr lang="en-GB"/>
          </a:p>
        </p:txBody>
      </p:sp>
    </p:spTree>
    <p:extLst>
      <p:ext uri="{BB962C8B-B14F-4D97-AF65-F5344CB8AC3E}">
        <p14:creationId xmlns:p14="http://schemas.microsoft.com/office/powerpoint/2010/main" val="227006715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CE_958870EB.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280_C3E7179D.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281_50C3BFFB.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287_3986150D.xml"/><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289_36F32AA4.xm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28A_8D7D584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28B_5967DB65.xml"/><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290_75188FE1.xm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9269129" y="1058779"/>
            <a:ext cx="2916696"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Calibri"/>
                <a:ea typeface="+mn-ea"/>
                <a:cs typeface="+mn-cs"/>
              </a:rPr>
              <a:t>Computing,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Calibri"/>
                <a:ea typeface="+mn-ea"/>
                <a:cs typeface="+mn-cs"/>
              </a:rPr>
              <a:t>and the Built Environment</a:t>
            </a:r>
          </a:p>
        </p:txBody>
      </p:sp>
      <p:sp>
        <p:nvSpPr>
          <p:cNvPr id="3" name="TextBox 2"/>
          <p:cNvSpPr txBox="1"/>
          <p:nvPr/>
        </p:nvSpPr>
        <p:spPr>
          <a:xfrm>
            <a:off x="184694" y="4233154"/>
            <a:ext cx="5695165" cy="240065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CMP5387 D3</a:t>
            </a:r>
          </a:p>
          <a:p>
            <a:pPr>
              <a:defRPr/>
            </a:pPr>
            <a:r>
              <a:rPr lang="en-GB" sz="1400" b="1">
                <a:solidFill>
                  <a:prstClr val="white"/>
                </a:solidFill>
                <a:effectLst>
                  <a:outerShdw blurRad="38100" dist="38100" dir="2700000" algn="tl">
                    <a:srgbClr val="000000">
                      <a:alpha val="43137"/>
                    </a:srgbClr>
                  </a:outerShdw>
                </a:effectLst>
                <a:latin typeface="Arial"/>
                <a:cs typeface="Arial"/>
              </a:rPr>
              <a:t>Alex Rush, 23140056, Alex.Rush@mail.bcu.ac.uk</a:t>
            </a:r>
            <a:endParaRPr lang="en-GB">
              <a:solidFill>
                <a:prstClr val="white"/>
              </a:solidFill>
            </a:endParaRPr>
          </a:p>
          <a:p>
            <a:pPr>
              <a:defRPr/>
            </a:pPr>
            <a:r>
              <a:rPr lang="en-GB" sz="1400" b="1">
                <a:solidFill>
                  <a:prstClr val="white"/>
                </a:solidFill>
                <a:effectLst>
                  <a:outerShdw blurRad="38100" dist="38100" dir="2700000" algn="tl">
                    <a:srgbClr val="000000">
                      <a:alpha val="43137"/>
                    </a:srgbClr>
                  </a:outerShdw>
                </a:effectLst>
                <a:latin typeface="Arial"/>
                <a:cs typeface="Arial"/>
              </a:rPr>
              <a:t>Daniel Roberts, Student ID 2, Student Email Address 2</a:t>
            </a:r>
            <a:endParaRPr lang="en-GB">
              <a:solidFill>
                <a:prstClr val="white"/>
              </a:solidFill>
            </a:endParaRPr>
          </a:p>
          <a:p>
            <a:pPr>
              <a:defRPr/>
            </a:pPr>
            <a:r>
              <a:rPr lang="en-GB" sz="1400" b="1">
                <a:solidFill>
                  <a:prstClr val="white"/>
                </a:solidFill>
                <a:effectLst>
                  <a:outerShdw blurRad="38100" dist="38100" dir="2700000" algn="tl">
                    <a:srgbClr val="000000">
                      <a:alpha val="43137"/>
                    </a:srgbClr>
                  </a:outerShdw>
                </a:effectLst>
                <a:latin typeface="Arial"/>
                <a:cs typeface="Arial"/>
              </a:rPr>
              <a:t>Zakaria Miah, Student ID 3, Student Email Address 3</a:t>
            </a:r>
          </a:p>
          <a:p>
            <a:pPr>
              <a:defRPr/>
            </a:pPr>
            <a:r>
              <a:rPr lang="en-GB" sz="1400" b="1">
                <a:solidFill>
                  <a:prstClr val="white"/>
                </a:solidFill>
                <a:effectLst>
                  <a:outerShdw blurRad="38100" dist="38100" dir="2700000" algn="tl">
                    <a:srgbClr val="000000">
                      <a:alpha val="43137"/>
                    </a:srgbClr>
                  </a:outerShdw>
                </a:effectLst>
                <a:latin typeface="Arial"/>
                <a:cs typeface="Arial"/>
              </a:rPr>
              <a:t>Abraham Kubrom, Student ID 4, Student Email Address 4</a:t>
            </a:r>
          </a:p>
          <a:p>
            <a:pPr>
              <a:defRPr/>
            </a:pPr>
            <a:endParaRPr lang="en-GB" sz="14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defRPr/>
            </a:pPr>
            <a:endParaRPr lang="en-GB" sz="14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4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January 2026</a:t>
            </a:r>
          </a:p>
        </p:txBody>
      </p:sp>
    </p:spTree>
    <p:extLst>
      <p:ext uri="{BB962C8B-B14F-4D97-AF65-F5344CB8AC3E}">
        <p14:creationId xmlns:p14="http://schemas.microsoft.com/office/powerpoint/2010/main" val="2726903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6DBFA2-0A8B-3A6F-A1F2-2CC3286DF1ED}"/>
              </a:ext>
            </a:extLst>
          </p:cNvPr>
          <p:cNvSpPr>
            <a:spLocks noGrp="1"/>
          </p:cNvSpPr>
          <p:nvPr>
            <p:ph type="title"/>
          </p:nvPr>
        </p:nvSpPr>
        <p:spPr/>
        <p:txBody>
          <a:bodyPr/>
          <a:lstStyle/>
          <a:p>
            <a:pPr algn="ctr"/>
            <a:r>
              <a:rPr lang="en-GB">
                <a:solidFill>
                  <a:srgbClr val="FF0000"/>
                </a:solidFill>
              </a:rPr>
              <a:t>University Society Recommendation System</a:t>
            </a:r>
            <a:endParaRPr lang="en-GB" dirty="0">
              <a:solidFill>
                <a:srgbClr val="FF0000"/>
              </a:solidFill>
            </a:endParaRPr>
          </a:p>
        </p:txBody>
      </p:sp>
      <p:sp>
        <p:nvSpPr>
          <p:cNvPr id="5" name="Text Placeholder 4">
            <a:extLst>
              <a:ext uri="{FF2B5EF4-FFF2-40B4-BE49-F238E27FC236}">
                <a16:creationId xmlns:a16="http://schemas.microsoft.com/office/drawing/2014/main" id="{85991FE9-9A2A-0A90-438E-40532AC146CB}"/>
              </a:ext>
            </a:extLst>
          </p:cNvPr>
          <p:cNvSpPr>
            <a:spLocks noGrp="1"/>
          </p:cNvSpPr>
          <p:nvPr>
            <p:ph type="body" idx="1"/>
          </p:nvPr>
        </p:nvSpPr>
        <p:spPr>
          <a:xfrm>
            <a:off x="831850" y="4570571"/>
            <a:ext cx="10515600" cy="813757"/>
          </a:xfrm>
        </p:spPr>
        <p:txBody>
          <a:bodyPr vert="horz" lIns="91440" tIns="45720" rIns="91440" bIns="45720" rtlCol="0" anchor="t">
            <a:normAutofit/>
          </a:bodyPr>
          <a:lstStyle/>
          <a:p>
            <a:pPr algn="ctr"/>
            <a:r>
              <a:rPr lang="en-GB" sz="1800" dirty="0">
                <a:solidFill>
                  <a:srgbClr val="000000"/>
                </a:solidFill>
                <a:highlight>
                  <a:srgbClr val="FFFFFF"/>
                </a:highlight>
                <a:latin typeface="Arial"/>
                <a:cs typeface="Arial"/>
              </a:rPr>
              <a:t>A society recommendation system based on shared communities (LGBTQ+ / Identity), Interests (Gaming, Cyber Security</a:t>
            </a:r>
            <a:r>
              <a:rPr lang="en-GB" sz="1800" dirty="0">
                <a:solidFill>
                  <a:srgbClr val="000000"/>
                </a:solidFill>
                <a:highlight>
                  <a:srgbClr val="FFFFFF"/>
                </a:highlight>
                <a:latin typeface="Sitka Subheading"/>
                <a:cs typeface="Arial"/>
              </a:rPr>
              <a:t>),</a:t>
            </a:r>
            <a:r>
              <a:rPr lang="en-GB" sz="1800" dirty="0">
                <a:solidFill>
                  <a:srgbClr val="000000"/>
                </a:solidFill>
                <a:highlight>
                  <a:srgbClr val="FFFFFF"/>
                </a:highlight>
                <a:latin typeface="Arial"/>
                <a:cs typeface="Arial"/>
              </a:rPr>
              <a:t> and degree relationship.</a:t>
            </a:r>
            <a:endParaRPr lang="en-US"/>
          </a:p>
        </p:txBody>
      </p:sp>
      <p:pic>
        <p:nvPicPr>
          <p:cNvPr id="6" name="Picture 5">
            <a:extLst>
              <a:ext uri="{FF2B5EF4-FFF2-40B4-BE49-F238E27FC236}">
                <a16:creationId xmlns:a16="http://schemas.microsoft.com/office/drawing/2014/main" id="{E55406A7-6CE5-A6EA-C503-DE4665931589}"/>
              </a:ext>
            </a:extLst>
          </p:cNvPr>
          <p:cNvPicPr>
            <a:picLocks noChangeAspect="1"/>
          </p:cNvPicPr>
          <p:nvPr/>
        </p:nvPicPr>
        <p:blipFill>
          <a:blip r:embed="rId3"/>
          <a:stretch>
            <a:fillRect/>
          </a:stretch>
        </p:blipFill>
        <p:spPr>
          <a:xfrm>
            <a:off x="0" y="5608320"/>
            <a:ext cx="12194540" cy="1249680"/>
          </a:xfrm>
          <a:prstGeom prst="rect">
            <a:avLst/>
          </a:prstGeom>
        </p:spPr>
      </p:pic>
    </p:spTree>
    <p:extLst>
      <p:ext uri="{BB962C8B-B14F-4D97-AF65-F5344CB8AC3E}">
        <p14:creationId xmlns:p14="http://schemas.microsoft.com/office/powerpoint/2010/main" val="2483116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FD814B-9424-AB9C-9F79-24934BA9A44A}"/>
              </a:ext>
            </a:extLst>
          </p:cNvPr>
          <p:cNvSpPr>
            <a:spLocks noGrp="1"/>
          </p:cNvSpPr>
          <p:nvPr>
            <p:ph type="title"/>
          </p:nvPr>
        </p:nvSpPr>
        <p:spPr/>
        <p:txBody>
          <a:bodyPr/>
          <a:lstStyle/>
          <a:p>
            <a:pPr algn="ctr"/>
            <a:r>
              <a:rPr lang="en-GB" dirty="0">
                <a:solidFill>
                  <a:srgbClr val="FF0000"/>
                </a:solidFill>
              </a:rPr>
              <a:t>Overview</a:t>
            </a:r>
          </a:p>
        </p:txBody>
      </p:sp>
      <p:sp>
        <p:nvSpPr>
          <p:cNvPr id="5" name="Text Placeholder 4">
            <a:extLst>
              <a:ext uri="{FF2B5EF4-FFF2-40B4-BE49-F238E27FC236}">
                <a16:creationId xmlns:a16="http://schemas.microsoft.com/office/drawing/2014/main" id="{ECFA73D4-837B-E936-519A-A2456CB5F01B}"/>
              </a:ext>
            </a:extLst>
          </p:cNvPr>
          <p:cNvSpPr>
            <a:spLocks noGrp="1"/>
          </p:cNvSpPr>
          <p:nvPr>
            <p:ph type="body" idx="1"/>
          </p:nvPr>
        </p:nvSpPr>
        <p:spPr/>
        <p:txBody>
          <a:bodyPr/>
          <a:lstStyle/>
          <a:p>
            <a:r>
              <a:rPr lang="en-GB" dirty="0">
                <a:solidFill>
                  <a:srgbClr val="FF0000"/>
                </a:solidFill>
              </a:rPr>
              <a:t>This slide is hidden do not record on it, it is simply meant to divide the presentation template into sections</a:t>
            </a:r>
          </a:p>
        </p:txBody>
      </p:sp>
    </p:spTree>
    <p:extLst>
      <p:ext uri="{BB962C8B-B14F-4D97-AF65-F5344CB8AC3E}">
        <p14:creationId xmlns:p14="http://schemas.microsoft.com/office/powerpoint/2010/main" val="2604758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D5D87FE-3AD7-EB47-8EEB-99DCEAB6BE63}"/>
              </a:ext>
            </a:extLst>
          </p:cNvPr>
          <p:cNvPicPr>
            <a:picLocks noChangeAspect="1"/>
          </p:cNvPicPr>
          <p:nvPr/>
        </p:nvPicPr>
        <p:blipFill>
          <a:blip r:embed="rId4"/>
          <a:stretch>
            <a:fillRect/>
          </a:stretch>
        </p:blipFill>
        <p:spPr>
          <a:xfrm>
            <a:off x="0" y="5781040"/>
            <a:ext cx="12194540" cy="1076960"/>
          </a:xfrm>
          <a:prstGeom prst="rect">
            <a:avLst/>
          </a:prstGeom>
        </p:spPr>
      </p:pic>
      <p:sp>
        <p:nvSpPr>
          <p:cNvPr id="8" name="TextBox 7">
            <a:extLst>
              <a:ext uri="{FF2B5EF4-FFF2-40B4-BE49-F238E27FC236}">
                <a16:creationId xmlns:a16="http://schemas.microsoft.com/office/drawing/2014/main" id="{75A710E1-E451-0F4F-967B-6F182EF99A7C}"/>
              </a:ext>
            </a:extLst>
          </p:cNvPr>
          <p:cNvSpPr txBox="1"/>
          <p:nvPr/>
        </p:nvSpPr>
        <p:spPr>
          <a:xfrm>
            <a:off x="193685" y="300490"/>
            <a:ext cx="184731" cy="584775"/>
          </a:xfrm>
          <a:prstGeom prst="rect">
            <a:avLst/>
          </a:prstGeom>
          <a:solidFill>
            <a:schemeClr val="bg1"/>
          </a:solidFill>
        </p:spPr>
        <p:txBody>
          <a:bodyPr wrap="none" lIns="91440" tIns="45720" rIns="91440" bIns="45720" rtlCol="0" anchor="t">
            <a:spAutoFit/>
          </a:bodyPr>
          <a:lstStyle/>
          <a:p>
            <a:pPr lvl="0">
              <a:defRPr/>
            </a:pPr>
            <a:endParaRPr lang="en-GB" sz="3200" b="1" dirty="0">
              <a:solidFill>
                <a:srgbClr val="002060"/>
              </a:solidFill>
            </a:endParaRPr>
          </a:p>
        </p:txBody>
      </p:sp>
      <p:sp>
        <p:nvSpPr>
          <p:cNvPr id="4" name="Content Placeholder 3">
            <a:extLst>
              <a:ext uri="{FF2B5EF4-FFF2-40B4-BE49-F238E27FC236}">
                <a16:creationId xmlns:a16="http://schemas.microsoft.com/office/drawing/2014/main" id="{488724C3-E3AA-466E-B4FF-42FC8D56446E}"/>
              </a:ext>
            </a:extLst>
          </p:cNvPr>
          <p:cNvSpPr>
            <a:spLocks noGrp="1"/>
          </p:cNvSpPr>
          <p:nvPr>
            <p:ph sz="half" idx="1"/>
          </p:nvPr>
        </p:nvSpPr>
        <p:spPr/>
        <p:txBody>
          <a:bodyPr vert="horz" lIns="91440" tIns="45720" rIns="91440" bIns="45720" rtlCol="0" anchor="t">
            <a:normAutofit/>
          </a:bodyPr>
          <a:lstStyle/>
          <a:p>
            <a:r>
              <a:rPr lang="en-GB"/>
              <a:t>Students miss relevant clubs; Societies struggle to recruit and fill events; Student Union lacks discovery tools</a:t>
            </a:r>
            <a:endParaRPr lang="en-GB">
              <a:ea typeface="Calibri"/>
              <a:cs typeface="Calibri"/>
            </a:endParaRPr>
          </a:p>
          <a:p>
            <a:r>
              <a:rPr lang="en-GB">
                <a:ea typeface="Calibri"/>
                <a:cs typeface="Calibri"/>
              </a:rPr>
              <a:t>Stakeholders:</a:t>
            </a:r>
          </a:p>
          <a:p>
            <a:pPr lvl="1">
              <a:buFont typeface="Courier New" panose="020B0604020202020204" pitchFamily="34" charset="0"/>
              <a:buChar char="o"/>
            </a:pPr>
            <a:r>
              <a:rPr lang="en-GB">
                <a:ea typeface="Calibri"/>
                <a:cs typeface="Calibri"/>
              </a:rPr>
              <a:t>Students (Primary)</a:t>
            </a:r>
          </a:p>
          <a:p>
            <a:pPr lvl="1">
              <a:buFont typeface="Courier New" panose="020B0604020202020204" pitchFamily="34" charset="0"/>
              <a:buChar char="o"/>
            </a:pPr>
            <a:r>
              <a:rPr lang="en-GB">
                <a:ea typeface="Calibri"/>
                <a:cs typeface="Calibri"/>
              </a:rPr>
              <a:t>Society Leaders (P)</a:t>
            </a:r>
          </a:p>
          <a:p>
            <a:pPr lvl="1">
              <a:buFont typeface="Courier New" panose="020B0604020202020204" pitchFamily="34" charset="0"/>
              <a:buChar char="o"/>
            </a:pPr>
            <a:r>
              <a:rPr lang="en-GB">
                <a:ea typeface="Calibri"/>
                <a:cs typeface="Calibri"/>
              </a:rPr>
              <a:t>Administrators (P)</a:t>
            </a:r>
          </a:p>
          <a:p>
            <a:pPr lvl="1">
              <a:buFont typeface="Courier New" panose="020B0604020202020204" pitchFamily="34" charset="0"/>
              <a:buChar char="o"/>
            </a:pPr>
            <a:r>
              <a:rPr lang="en-GB">
                <a:ea typeface="Calibri"/>
                <a:cs typeface="Calibri"/>
              </a:rPr>
              <a:t>Student Union (Secondary)</a:t>
            </a:r>
          </a:p>
          <a:p>
            <a:pPr lvl="1">
              <a:buFont typeface="Courier New" panose="020B0604020202020204" pitchFamily="34" charset="0"/>
              <a:buChar char="o"/>
            </a:pPr>
            <a:r>
              <a:rPr lang="en-GB">
                <a:ea typeface="Calibri"/>
                <a:cs typeface="Calibri"/>
              </a:rPr>
              <a:t>Developers/Maintainers (S)</a:t>
            </a:r>
          </a:p>
        </p:txBody>
      </p:sp>
      <p:sp>
        <p:nvSpPr>
          <p:cNvPr id="2" name="Title 1">
            <a:extLst>
              <a:ext uri="{FF2B5EF4-FFF2-40B4-BE49-F238E27FC236}">
                <a16:creationId xmlns:a16="http://schemas.microsoft.com/office/drawing/2014/main" id="{1C4797F4-9D9E-4F93-DC22-3B54BF35841E}"/>
              </a:ext>
            </a:extLst>
          </p:cNvPr>
          <p:cNvSpPr>
            <a:spLocks noGrp="1"/>
          </p:cNvSpPr>
          <p:nvPr>
            <p:ph type="title"/>
          </p:nvPr>
        </p:nvSpPr>
        <p:spPr/>
        <p:txBody>
          <a:bodyPr/>
          <a:lstStyle/>
          <a:p>
            <a:r>
              <a:rPr lang="en-GB" dirty="0"/>
              <a:t>Elevator Pitch: Project Idea Summary</a:t>
            </a:r>
          </a:p>
        </p:txBody>
      </p:sp>
      <p:sp>
        <p:nvSpPr>
          <p:cNvPr id="6" name="TextBox 5">
            <a:extLst>
              <a:ext uri="{FF2B5EF4-FFF2-40B4-BE49-F238E27FC236}">
                <a16:creationId xmlns:a16="http://schemas.microsoft.com/office/drawing/2014/main" id="{D1E838E3-6A1B-8AC4-6461-D65D3E4FF039}"/>
              </a:ext>
            </a:extLst>
          </p:cNvPr>
          <p:cNvSpPr txBox="1"/>
          <p:nvPr/>
        </p:nvSpPr>
        <p:spPr>
          <a:xfrm>
            <a:off x="838200" y="1321356"/>
            <a:ext cx="3758514" cy="369332"/>
          </a:xfrm>
          <a:prstGeom prst="rect">
            <a:avLst/>
          </a:prstGeom>
          <a:noFill/>
        </p:spPr>
        <p:txBody>
          <a:bodyPr wrap="square" lIns="91440" tIns="45720" rIns="91440" bIns="45720" rtlCol="0" anchor="t">
            <a:spAutoFit/>
          </a:bodyPr>
          <a:lstStyle/>
          <a:p>
            <a:r>
              <a:rPr lang="en-GB" dirty="0"/>
              <a:t>Presenting Team Member: </a:t>
            </a:r>
            <a:r>
              <a:rPr lang="en-GB"/>
              <a:t>Alex</a:t>
            </a:r>
            <a:endParaRPr lang="en-GB">
              <a:ea typeface="Calibri"/>
              <a:cs typeface="Calibri"/>
            </a:endParaRPr>
          </a:p>
        </p:txBody>
      </p:sp>
      <p:sp>
        <p:nvSpPr>
          <p:cNvPr id="3" name="TextBox 2">
            <a:extLst>
              <a:ext uri="{FF2B5EF4-FFF2-40B4-BE49-F238E27FC236}">
                <a16:creationId xmlns:a16="http://schemas.microsoft.com/office/drawing/2014/main" id="{DFBEC502-027C-98E2-DA37-8428D5BDB969}"/>
              </a:ext>
            </a:extLst>
          </p:cNvPr>
          <p:cNvSpPr txBox="1"/>
          <p:nvPr/>
        </p:nvSpPr>
        <p:spPr>
          <a:xfrm>
            <a:off x="6617898" y="1321355"/>
            <a:ext cx="3758514" cy="369332"/>
          </a:xfrm>
          <a:prstGeom prst="rect">
            <a:avLst/>
          </a:prstGeom>
          <a:noFill/>
        </p:spPr>
        <p:txBody>
          <a:bodyPr wrap="square" lIns="91440" tIns="45720" rIns="91440" bIns="45720" rtlCol="0" anchor="t">
            <a:spAutoFit/>
          </a:bodyPr>
          <a:lstStyle/>
          <a:p>
            <a:r>
              <a:rPr lang="en-GB">
                <a:ea typeface="Calibri"/>
                <a:cs typeface="Calibri"/>
              </a:rPr>
              <a:t>Smart Society Recommendations</a:t>
            </a:r>
          </a:p>
        </p:txBody>
      </p:sp>
      <p:pic>
        <p:nvPicPr>
          <p:cNvPr id="11" name="Content Placeholder 10" descr="A screenshot of a quiz&#10;&#10;AI-generated content may be incorrect.">
            <a:extLst>
              <a:ext uri="{FF2B5EF4-FFF2-40B4-BE49-F238E27FC236}">
                <a16:creationId xmlns:a16="http://schemas.microsoft.com/office/drawing/2014/main" id="{F32AC8FF-D974-ECC1-57C9-0FFAC48F91D4}"/>
              </a:ext>
            </a:extLst>
          </p:cNvPr>
          <p:cNvPicPr>
            <a:picLocks noGrp="1" noChangeAspect="1"/>
          </p:cNvPicPr>
          <p:nvPr>
            <p:ph sz="half" idx="2"/>
          </p:nvPr>
        </p:nvPicPr>
        <p:blipFill>
          <a:blip r:embed="rId5"/>
          <a:stretch>
            <a:fillRect/>
          </a:stretch>
        </p:blipFill>
        <p:spPr>
          <a:xfrm>
            <a:off x="7283752" y="1696229"/>
            <a:ext cx="3116646" cy="2812961"/>
          </a:xfrm>
          <a:prstGeom prst="rect">
            <a:avLst/>
          </a:prstGeom>
        </p:spPr>
      </p:pic>
      <p:sp>
        <p:nvSpPr>
          <p:cNvPr id="20" name="TextBox 19">
            <a:extLst>
              <a:ext uri="{FF2B5EF4-FFF2-40B4-BE49-F238E27FC236}">
                <a16:creationId xmlns:a16="http://schemas.microsoft.com/office/drawing/2014/main" id="{2BB42BE2-D089-1D69-23D1-A0E20A12C597}"/>
              </a:ext>
            </a:extLst>
          </p:cNvPr>
          <p:cNvSpPr txBox="1"/>
          <p:nvPr/>
        </p:nvSpPr>
        <p:spPr>
          <a:xfrm>
            <a:off x="7467037" y="4507249"/>
            <a:ext cx="293914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Calibri"/>
                <a:cs typeface="Calibri"/>
              </a:rPr>
              <a:t>Current System is either a list of all societies or a quiz to find one you "vibe" with. And the result is a long list with a lot of non-relevant societies.</a:t>
            </a:r>
            <a:endParaRPr lang="en-GB"/>
          </a:p>
        </p:txBody>
      </p:sp>
    </p:spTree>
    <p:extLst>
      <p:ext uri="{BB962C8B-B14F-4D97-AF65-F5344CB8AC3E}">
        <p14:creationId xmlns:p14="http://schemas.microsoft.com/office/powerpoint/2010/main" val="2508746987"/>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3767-D06F-FD35-B461-ED1BB68FD59B}"/>
              </a:ext>
            </a:extLst>
          </p:cNvPr>
          <p:cNvSpPr>
            <a:spLocks noGrp="1"/>
          </p:cNvSpPr>
          <p:nvPr>
            <p:ph type="title"/>
          </p:nvPr>
        </p:nvSpPr>
        <p:spPr/>
        <p:txBody>
          <a:bodyPr/>
          <a:lstStyle/>
          <a:p>
            <a:r>
              <a:rPr lang="en-GB" dirty="0"/>
              <a:t>Features Identified</a:t>
            </a:r>
          </a:p>
        </p:txBody>
      </p:sp>
      <p:sp>
        <p:nvSpPr>
          <p:cNvPr id="6" name="Content Placeholder 5">
            <a:extLst>
              <a:ext uri="{FF2B5EF4-FFF2-40B4-BE49-F238E27FC236}">
                <a16:creationId xmlns:a16="http://schemas.microsoft.com/office/drawing/2014/main" id="{FD122F71-60FB-A30C-940D-6F023894505D}"/>
              </a:ext>
            </a:extLst>
          </p:cNvPr>
          <p:cNvSpPr>
            <a:spLocks noGrp="1"/>
          </p:cNvSpPr>
          <p:nvPr>
            <p:ph idx="1"/>
          </p:nvPr>
        </p:nvSpPr>
        <p:spPr/>
        <p:txBody>
          <a:bodyPr/>
          <a:lstStyle/>
          <a:p>
            <a:r>
              <a:rPr lang="en-GB" dirty="0">
                <a:solidFill>
                  <a:srgbClr val="FF0000"/>
                </a:solidFill>
              </a:rPr>
              <a:t>Give a quick summary of the different core features your system should provide by showing them within a table then discussing these briefly</a:t>
            </a:r>
          </a:p>
          <a:p>
            <a:endParaRPr lang="en-GB" dirty="0"/>
          </a:p>
          <a:p>
            <a:endParaRPr lang="en-GB" dirty="0"/>
          </a:p>
        </p:txBody>
      </p:sp>
      <p:sp>
        <p:nvSpPr>
          <p:cNvPr id="5" name="Slide Number Placeholder 4">
            <a:extLst>
              <a:ext uri="{FF2B5EF4-FFF2-40B4-BE49-F238E27FC236}">
                <a16:creationId xmlns:a16="http://schemas.microsoft.com/office/drawing/2014/main" id="{8B1A7B5C-6C47-1F83-3252-817B8B42E053}"/>
              </a:ext>
            </a:extLst>
          </p:cNvPr>
          <p:cNvSpPr>
            <a:spLocks noGrp="1"/>
          </p:cNvSpPr>
          <p:nvPr>
            <p:ph type="sldNum" sz="quarter" idx="12"/>
          </p:nvPr>
        </p:nvSpPr>
        <p:spPr/>
        <p:txBody>
          <a:bodyPr/>
          <a:lstStyle/>
          <a:p>
            <a:fld id="{B562D212-6087-423C-AFFF-BF351400B1FF}" type="slidenum">
              <a:rPr lang="en-GB" smtClean="0"/>
              <a:t>5</a:t>
            </a:fld>
            <a:endParaRPr lang="en-GB"/>
          </a:p>
        </p:txBody>
      </p:sp>
      <p:graphicFrame>
        <p:nvGraphicFramePr>
          <p:cNvPr id="7" name="Table 6">
            <a:extLst>
              <a:ext uri="{FF2B5EF4-FFF2-40B4-BE49-F238E27FC236}">
                <a16:creationId xmlns:a16="http://schemas.microsoft.com/office/drawing/2014/main" id="{5CFD48E7-3898-FAF5-27B1-02B8D7CDA82F}"/>
              </a:ext>
            </a:extLst>
          </p:cNvPr>
          <p:cNvGraphicFramePr>
            <a:graphicFrameLocks noGrp="1"/>
          </p:cNvGraphicFramePr>
          <p:nvPr>
            <p:extLst>
              <p:ext uri="{D42A27DB-BD31-4B8C-83A1-F6EECF244321}">
                <p14:modId xmlns:p14="http://schemas.microsoft.com/office/powerpoint/2010/main" val="4094997275"/>
              </p:ext>
            </p:extLst>
          </p:nvPr>
        </p:nvGraphicFramePr>
        <p:xfrm>
          <a:off x="1624227" y="3574077"/>
          <a:ext cx="8128000" cy="17526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61787279"/>
                    </a:ext>
                  </a:extLst>
                </a:gridCol>
                <a:gridCol w="2032000">
                  <a:extLst>
                    <a:ext uri="{9D8B030D-6E8A-4147-A177-3AD203B41FA5}">
                      <a16:colId xmlns:a16="http://schemas.microsoft.com/office/drawing/2014/main" val="3813670572"/>
                    </a:ext>
                  </a:extLst>
                </a:gridCol>
                <a:gridCol w="2032000">
                  <a:extLst>
                    <a:ext uri="{9D8B030D-6E8A-4147-A177-3AD203B41FA5}">
                      <a16:colId xmlns:a16="http://schemas.microsoft.com/office/drawing/2014/main" val="4199506354"/>
                    </a:ext>
                  </a:extLst>
                </a:gridCol>
                <a:gridCol w="2032000">
                  <a:extLst>
                    <a:ext uri="{9D8B030D-6E8A-4147-A177-3AD203B41FA5}">
                      <a16:colId xmlns:a16="http://schemas.microsoft.com/office/drawing/2014/main" val="760812392"/>
                    </a:ext>
                  </a:extLst>
                </a:gridCol>
              </a:tblGrid>
              <a:tr h="370840">
                <a:tc>
                  <a:txBody>
                    <a:bodyPr/>
                    <a:lstStyle/>
                    <a:p>
                      <a:r>
                        <a:rPr lang="en-GB" dirty="0"/>
                        <a:t>Feature</a:t>
                      </a:r>
                    </a:p>
                  </a:txBody>
                  <a:tcPr/>
                </a:tc>
                <a:tc>
                  <a:txBody>
                    <a:bodyPr/>
                    <a:lstStyle/>
                    <a:p>
                      <a:r>
                        <a:rPr lang="en-GB" dirty="0"/>
                        <a:t>Description</a:t>
                      </a:r>
                    </a:p>
                  </a:txBody>
                  <a:tcPr/>
                </a:tc>
                <a:tc>
                  <a:txBody>
                    <a:bodyPr/>
                    <a:lstStyle/>
                    <a:p>
                      <a:r>
                        <a:rPr lang="en-GB" dirty="0"/>
                        <a:t>Stakeholder(s) involved</a:t>
                      </a:r>
                    </a:p>
                  </a:txBody>
                  <a:tcPr/>
                </a:tc>
                <a:tc>
                  <a:txBody>
                    <a:bodyPr/>
                    <a:lstStyle/>
                    <a:p>
                      <a:r>
                        <a:rPr lang="en-GB" dirty="0"/>
                        <a:t>Importance</a:t>
                      </a:r>
                    </a:p>
                  </a:txBody>
                  <a:tcPr/>
                </a:tc>
                <a:extLst>
                  <a:ext uri="{0D108BD9-81ED-4DB2-BD59-A6C34878D82A}">
                    <a16:rowId xmlns:a16="http://schemas.microsoft.com/office/drawing/2014/main" val="1272625342"/>
                  </a:ext>
                </a:extLst>
              </a:tr>
              <a:tr h="370840">
                <a:tc>
                  <a:txBody>
                    <a:bodyPr/>
                    <a:lstStyle/>
                    <a:p>
                      <a:endParaRPr lang="en-GB" dirty="0"/>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2763795"/>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73732710"/>
                  </a:ext>
                </a:extLst>
              </a:tr>
              <a:tr h="370840">
                <a:tc>
                  <a:txBody>
                    <a:bodyPr/>
                    <a:lstStyle/>
                    <a:p>
                      <a:endParaRPr lang="en-GB"/>
                    </a:p>
                  </a:txBody>
                  <a:tcPr/>
                </a:tc>
                <a:tc>
                  <a:txBody>
                    <a:bodyPr/>
                    <a:lstStyle/>
                    <a:p>
                      <a:endParaRPr lang="en-GB"/>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590515082"/>
                  </a:ext>
                </a:extLst>
              </a:tr>
            </a:tbl>
          </a:graphicData>
        </a:graphic>
      </p:graphicFrame>
      <p:sp>
        <p:nvSpPr>
          <p:cNvPr id="8" name="TextBox 7">
            <a:extLst>
              <a:ext uri="{FF2B5EF4-FFF2-40B4-BE49-F238E27FC236}">
                <a16:creationId xmlns:a16="http://schemas.microsoft.com/office/drawing/2014/main" id="{50CADCCD-1C7D-4072-28F2-174A598D56F8}"/>
              </a:ext>
            </a:extLst>
          </p:cNvPr>
          <p:cNvSpPr txBox="1"/>
          <p:nvPr/>
        </p:nvSpPr>
        <p:spPr>
          <a:xfrm>
            <a:off x="838200" y="1321356"/>
            <a:ext cx="3758514" cy="369332"/>
          </a:xfrm>
          <a:prstGeom prst="rect">
            <a:avLst/>
          </a:prstGeom>
          <a:noFill/>
        </p:spPr>
        <p:txBody>
          <a:bodyPr wrap="square" lIns="91440" tIns="45720" rIns="91440" bIns="45720" rtlCol="0" anchor="t">
            <a:spAutoFit/>
          </a:bodyPr>
          <a:lstStyle/>
          <a:p>
            <a:r>
              <a:rPr lang="en-GB" dirty="0"/>
              <a:t>Presenting Team Member: </a:t>
            </a:r>
            <a:r>
              <a:rPr lang="en-GB" dirty="0">
                <a:solidFill>
                  <a:srgbClr val="FF0000"/>
                </a:solidFill>
              </a:rPr>
              <a:t>Student </a:t>
            </a:r>
            <a:r>
              <a:rPr lang="en-GB">
                <a:solidFill>
                  <a:srgbClr val="FF0000"/>
                </a:solidFill>
              </a:rPr>
              <a:t>4</a:t>
            </a:r>
            <a:endParaRPr lang="en-GB" dirty="0">
              <a:solidFill>
                <a:srgbClr val="FF0000"/>
              </a:solidFill>
            </a:endParaRPr>
          </a:p>
        </p:txBody>
      </p:sp>
      <p:pic>
        <p:nvPicPr>
          <p:cNvPr id="9" name="Picture 8">
            <a:extLst>
              <a:ext uri="{FF2B5EF4-FFF2-40B4-BE49-F238E27FC236}">
                <a16:creationId xmlns:a16="http://schemas.microsoft.com/office/drawing/2014/main" id="{903F9499-6DBE-BF2F-60F0-97DCC4593154}"/>
              </a:ext>
            </a:extLst>
          </p:cNvPr>
          <p:cNvPicPr>
            <a:picLocks noChangeAspect="1"/>
          </p:cNvPicPr>
          <p:nvPr/>
        </p:nvPicPr>
        <p:blipFill>
          <a:blip r:embed="rId3"/>
          <a:stretch>
            <a:fillRect/>
          </a:stretch>
        </p:blipFill>
        <p:spPr>
          <a:xfrm>
            <a:off x="0" y="6035040"/>
            <a:ext cx="12153900" cy="822960"/>
          </a:xfrm>
          <a:prstGeom prst="rect">
            <a:avLst/>
          </a:prstGeom>
        </p:spPr>
      </p:pic>
    </p:spTree>
    <p:extLst>
      <p:ext uri="{BB962C8B-B14F-4D97-AF65-F5344CB8AC3E}">
        <p14:creationId xmlns:p14="http://schemas.microsoft.com/office/powerpoint/2010/main" val="400640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23EB-1D58-ECA8-965C-CEF168086D1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361C85D-F02F-4B7E-A403-3ED38379EE49}"/>
              </a:ext>
            </a:extLst>
          </p:cNvPr>
          <p:cNvPicPr>
            <a:picLocks noChangeAspect="1"/>
          </p:cNvPicPr>
          <p:nvPr/>
        </p:nvPicPr>
        <p:blipFill>
          <a:blip r:embed="rId4"/>
          <a:stretch>
            <a:fillRect/>
          </a:stretch>
        </p:blipFill>
        <p:spPr>
          <a:xfrm>
            <a:off x="0" y="6035040"/>
            <a:ext cx="12153900" cy="822960"/>
          </a:xfrm>
          <a:prstGeom prst="rect">
            <a:avLst/>
          </a:prstGeom>
        </p:spPr>
      </p:pic>
      <p:sp>
        <p:nvSpPr>
          <p:cNvPr id="8" name="TextBox 7">
            <a:extLst>
              <a:ext uri="{FF2B5EF4-FFF2-40B4-BE49-F238E27FC236}">
                <a16:creationId xmlns:a16="http://schemas.microsoft.com/office/drawing/2014/main" id="{DC631B2E-CD09-555A-1EAC-02C5ADB7EB7B}"/>
              </a:ext>
            </a:extLst>
          </p:cNvPr>
          <p:cNvSpPr txBox="1"/>
          <p:nvPr/>
        </p:nvSpPr>
        <p:spPr>
          <a:xfrm>
            <a:off x="193685" y="300490"/>
            <a:ext cx="184731" cy="584775"/>
          </a:xfrm>
          <a:prstGeom prst="rect">
            <a:avLst/>
          </a:prstGeom>
          <a:solidFill>
            <a:schemeClr val="bg1"/>
          </a:solidFill>
        </p:spPr>
        <p:txBody>
          <a:bodyPr wrap="none" lIns="91440" tIns="45720" rIns="91440" bIns="45720" rtlCol="0" anchor="t">
            <a:spAutoFit/>
          </a:bodyPr>
          <a:lstStyle/>
          <a:p>
            <a:pPr lvl="0">
              <a:defRPr/>
            </a:pPr>
            <a:endParaRPr lang="en-GB" sz="3200" b="1" dirty="0">
              <a:solidFill>
                <a:srgbClr val="002060"/>
              </a:solidFill>
            </a:endParaRPr>
          </a:p>
        </p:txBody>
      </p:sp>
      <p:sp>
        <p:nvSpPr>
          <p:cNvPr id="2" name="Title 1">
            <a:extLst>
              <a:ext uri="{FF2B5EF4-FFF2-40B4-BE49-F238E27FC236}">
                <a16:creationId xmlns:a16="http://schemas.microsoft.com/office/drawing/2014/main" id="{1D269158-9958-4A38-4DE2-B679E4496ECA}"/>
              </a:ext>
            </a:extLst>
          </p:cNvPr>
          <p:cNvSpPr>
            <a:spLocks noGrp="1"/>
          </p:cNvSpPr>
          <p:nvPr>
            <p:ph type="title"/>
          </p:nvPr>
        </p:nvSpPr>
        <p:spPr/>
        <p:txBody>
          <a:bodyPr/>
          <a:lstStyle/>
          <a:p>
            <a:r>
              <a:rPr lang="en-GB" dirty="0"/>
              <a:t>Tech Stack</a:t>
            </a:r>
          </a:p>
        </p:txBody>
      </p:sp>
      <p:sp>
        <p:nvSpPr>
          <p:cNvPr id="11" name="TextBox 10">
            <a:extLst>
              <a:ext uri="{FF2B5EF4-FFF2-40B4-BE49-F238E27FC236}">
                <a16:creationId xmlns:a16="http://schemas.microsoft.com/office/drawing/2014/main" id="{C5FB43CD-2679-A2C6-10A8-553F0B1336BE}"/>
              </a:ext>
            </a:extLst>
          </p:cNvPr>
          <p:cNvSpPr txBox="1"/>
          <p:nvPr/>
        </p:nvSpPr>
        <p:spPr>
          <a:xfrm>
            <a:off x="838200" y="1321356"/>
            <a:ext cx="3758514" cy="369332"/>
          </a:xfrm>
          <a:prstGeom prst="rect">
            <a:avLst/>
          </a:prstGeom>
          <a:noFill/>
        </p:spPr>
        <p:txBody>
          <a:bodyPr wrap="square" lIns="91440" tIns="45720" rIns="91440" bIns="45720" rtlCol="0" anchor="t">
            <a:spAutoFit/>
          </a:bodyPr>
          <a:lstStyle/>
          <a:p>
            <a:r>
              <a:rPr lang="en-GB" dirty="0"/>
              <a:t>Presenting Team Member: Dan</a:t>
            </a:r>
            <a:endParaRPr lang="en-GB" dirty="0">
              <a:solidFill>
                <a:srgbClr val="FF0000"/>
              </a:solidFill>
            </a:endParaRPr>
          </a:p>
        </p:txBody>
      </p:sp>
      <p:sp>
        <p:nvSpPr>
          <p:cNvPr id="4" name="Content Placeholder 3">
            <a:extLst>
              <a:ext uri="{FF2B5EF4-FFF2-40B4-BE49-F238E27FC236}">
                <a16:creationId xmlns:a16="http://schemas.microsoft.com/office/drawing/2014/main" id="{CBC1F614-8B20-1750-A035-9E5EE81F1E9D}"/>
              </a:ext>
            </a:extLst>
          </p:cNvPr>
          <p:cNvSpPr>
            <a:spLocks noGrp="1"/>
          </p:cNvSpPr>
          <p:nvPr>
            <p:ph sz="half" idx="2"/>
          </p:nvPr>
        </p:nvSpPr>
        <p:spPr>
          <a:xfrm>
            <a:off x="1165671" y="1825625"/>
            <a:ext cx="7713203" cy="3186297"/>
          </a:xfrm>
        </p:spPr>
        <p:txBody>
          <a:bodyPr/>
          <a:lstStyle/>
          <a:p>
            <a:endParaRPr lang="en-GB"/>
          </a:p>
        </p:txBody>
      </p:sp>
    </p:spTree>
    <p:extLst>
      <p:ext uri="{BB962C8B-B14F-4D97-AF65-F5344CB8AC3E}">
        <p14:creationId xmlns:p14="http://schemas.microsoft.com/office/powerpoint/2010/main" val="328670198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1A2536-C974-879D-9377-6A30CF8B97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891211-E69F-B390-A3A5-5D531A244A21}"/>
              </a:ext>
            </a:extLst>
          </p:cNvPr>
          <p:cNvSpPr>
            <a:spLocks noGrp="1"/>
          </p:cNvSpPr>
          <p:nvPr>
            <p:ph type="title"/>
          </p:nvPr>
        </p:nvSpPr>
        <p:spPr/>
        <p:txBody>
          <a:bodyPr>
            <a:normAutofit/>
          </a:bodyPr>
          <a:lstStyle/>
          <a:p>
            <a:pPr algn="ctr"/>
            <a:r>
              <a:rPr lang="en-GB" dirty="0">
                <a:solidFill>
                  <a:srgbClr val="FF0000"/>
                </a:solidFill>
              </a:rPr>
              <a:t>Database </a:t>
            </a:r>
            <a:br>
              <a:rPr lang="en-GB" dirty="0">
                <a:solidFill>
                  <a:srgbClr val="FF0000"/>
                </a:solidFill>
              </a:rPr>
            </a:br>
            <a:r>
              <a:rPr lang="en-GB" dirty="0">
                <a:solidFill>
                  <a:srgbClr val="FF0000"/>
                </a:solidFill>
              </a:rPr>
              <a:t>Design and Implementation</a:t>
            </a:r>
          </a:p>
        </p:txBody>
      </p:sp>
      <p:sp>
        <p:nvSpPr>
          <p:cNvPr id="5" name="Text Placeholder 4">
            <a:extLst>
              <a:ext uri="{FF2B5EF4-FFF2-40B4-BE49-F238E27FC236}">
                <a16:creationId xmlns:a16="http://schemas.microsoft.com/office/drawing/2014/main" id="{641C32FF-5072-04D8-D138-AD291B7A9844}"/>
              </a:ext>
            </a:extLst>
          </p:cNvPr>
          <p:cNvSpPr>
            <a:spLocks noGrp="1"/>
          </p:cNvSpPr>
          <p:nvPr>
            <p:ph type="body" idx="1"/>
          </p:nvPr>
        </p:nvSpPr>
        <p:spPr/>
        <p:txBody>
          <a:bodyPr/>
          <a:lstStyle/>
          <a:p>
            <a:r>
              <a:rPr lang="en-GB" dirty="0">
                <a:solidFill>
                  <a:srgbClr val="FF0000"/>
                </a:solidFill>
              </a:rPr>
              <a:t>This slide is hidden do not record on it, it is simply meant to divide the presentation template into sections</a:t>
            </a:r>
          </a:p>
        </p:txBody>
      </p:sp>
    </p:spTree>
    <p:extLst>
      <p:ext uri="{BB962C8B-B14F-4D97-AF65-F5344CB8AC3E}">
        <p14:creationId xmlns:p14="http://schemas.microsoft.com/office/powerpoint/2010/main" val="248389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D580B-7EF7-3863-4965-F42812E3F284}"/>
              </a:ext>
            </a:extLst>
          </p:cNvPr>
          <p:cNvSpPr>
            <a:spLocks noGrp="1"/>
          </p:cNvSpPr>
          <p:nvPr>
            <p:ph type="title"/>
          </p:nvPr>
        </p:nvSpPr>
        <p:spPr/>
        <p:txBody>
          <a:bodyPr/>
          <a:lstStyle/>
          <a:p>
            <a:r>
              <a:rPr lang="en-GB" dirty="0"/>
              <a:t>Database Design</a:t>
            </a:r>
          </a:p>
        </p:txBody>
      </p:sp>
      <p:sp>
        <p:nvSpPr>
          <p:cNvPr id="5" name="Slide Number Placeholder 4">
            <a:extLst>
              <a:ext uri="{FF2B5EF4-FFF2-40B4-BE49-F238E27FC236}">
                <a16:creationId xmlns:a16="http://schemas.microsoft.com/office/drawing/2014/main" id="{3FE36486-ACA8-DF63-1B4F-9283528A9925}"/>
              </a:ext>
            </a:extLst>
          </p:cNvPr>
          <p:cNvSpPr>
            <a:spLocks noGrp="1"/>
          </p:cNvSpPr>
          <p:nvPr>
            <p:ph type="sldNum" sz="quarter" idx="12"/>
          </p:nvPr>
        </p:nvSpPr>
        <p:spPr/>
        <p:txBody>
          <a:bodyPr/>
          <a:lstStyle/>
          <a:p>
            <a:fld id="{B562D212-6087-423C-AFFF-BF351400B1FF}" type="slidenum">
              <a:rPr lang="en-GB" smtClean="0"/>
              <a:t>8</a:t>
            </a:fld>
            <a:endParaRPr lang="en-GB"/>
          </a:p>
        </p:txBody>
      </p:sp>
      <p:pic>
        <p:nvPicPr>
          <p:cNvPr id="2050" name="Picture 2">
            <a:extLst>
              <a:ext uri="{FF2B5EF4-FFF2-40B4-BE49-F238E27FC236}">
                <a16:creationId xmlns:a16="http://schemas.microsoft.com/office/drawing/2014/main" id="{5E51E38A-E7B1-5FDA-E9F3-DF53D3CA2316}"/>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238500" y="2043906"/>
            <a:ext cx="5715000" cy="39147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FD7934D-0CA2-6EDD-4386-1967392E1816}"/>
              </a:ext>
            </a:extLst>
          </p:cNvPr>
          <p:cNvSpPr txBox="1"/>
          <p:nvPr/>
        </p:nvSpPr>
        <p:spPr>
          <a:xfrm>
            <a:off x="838200" y="1461571"/>
            <a:ext cx="3758514" cy="369332"/>
          </a:xfrm>
          <a:prstGeom prst="rect">
            <a:avLst/>
          </a:prstGeom>
          <a:noFill/>
        </p:spPr>
        <p:txBody>
          <a:bodyPr wrap="square" rtlCol="0">
            <a:spAutoFit/>
          </a:bodyPr>
          <a:lstStyle/>
          <a:p>
            <a:r>
              <a:rPr lang="en-GB" dirty="0"/>
              <a:t>Presenting Team Member: </a:t>
            </a:r>
            <a:r>
              <a:rPr lang="en-GB" dirty="0">
                <a:solidFill>
                  <a:srgbClr val="FF0000"/>
                </a:solidFill>
              </a:rPr>
              <a:t>Student 3</a:t>
            </a:r>
          </a:p>
        </p:txBody>
      </p:sp>
      <p:pic>
        <p:nvPicPr>
          <p:cNvPr id="13" name="Picture 12">
            <a:extLst>
              <a:ext uri="{FF2B5EF4-FFF2-40B4-BE49-F238E27FC236}">
                <a16:creationId xmlns:a16="http://schemas.microsoft.com/office/drawing/2014/main" id="{D8CFB3FF-993B-FE13-EFF1-F0F21552C923}"/>
              </a:ext>
            </a:extLst>
          </p:cNvPr>
          <p:cNvPicPr>
            <a:picLocks noChangeAspect="1"/>
          </p:cNvPicPr>
          <p:nvPr/>
        </p:nvPicPr>
        <p:blipFill>
          <a:blip r:embed="rId5"/>
          <a:stretch>
            <a:fillRect/>
          </a:stretch>
        </p:blipFill>
        <p:spPr>
          <a:xfrm>
            <a:off x="0" y="6035040"/>
            <a:ext cx="12153900" cy="822960"/>
          </a:xfrm>
          <a:prstGeom prst="rect">
            <a:avLst/>
          </a:prstGeom>
        </p:spPr>
      </p:pic>
      <p:cxnSp>
        <p:nvCxnSpPr>
          <p:cNvPr id="4" name="Straight Arrow Connector 3">
            <a:extLst>
              <a:ext uri="{FF2B5EF4-FFF2-40B4-BE49-F238E27FC236}">
                <a16:creationId xmlns:a16="http://schemas.microsoft.com/office/drawing/2014/main" id="{D44EA718-C26A-D557-A317-017490F3E598}"/>
              </a:ext>
            </a:extLst>
          </p:cNvPr>
          <p:cNvCxnSpPr/>
          <p:nvPr/>
        </p:nvCxnSpPr>
        <p:spPr>
          <a:xfrm flipH="1">
            <a:off x="6240162" y="2743200"/>
            <a:ext cx="1927654" cy="1112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0DAC7C5-DDE2-5FBC-4D1F-608903D10721}"/>
              </a:ext>
            </a:extLst>
          </p:cNvPr>
          <p:cNvSpPr txBox="1"/>
          <p:nvPr/>
        </p:nvSpPr>
        <p:spPr>
          <a:xfrm>
            <a:off x="8402595" y="2508422"/>
            <a:ext cx="3825343" cy="369332"/>
          </a:xfrm>
          <a:prstGeom prst="rect">
            <a:avLst/>
          </a:prstGeom>
          <a:noFill/>
        </p:spPr>
        <p:txBody>
          <a:bodyPr wrap="none" rtlCol="0">
            <a:spAutoFit/>
          </a:bodyPr>
          <a:lstStyle/>
          <a:p>
            <a:r>
              <a:rPr lang="en-GB" dirty="0">
                <a:solidFill>
                  <a:srgbClr val="FF0000"/>
                </a:solidFill>
              </a:rPr>
              <a:t>Make sure to name each relationship!</a:t>
            </a:r>
          </a:p>
        </p:txBody>
      </p:sp>
    </p:spTree>
    <p:extLst>
      <p:ext uri="{BB962C8B-B14F-4D97-AF65-F5344CB8AC3E}">
        <p14:creationId xmlns:p14="http://schemas.microsoft.com/office/powerpoint/2010/main" val="1355005947"/>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4332E-6EF2-AEEA-A8EE-F70EEBE5A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E0ACB-7B2E-EED7-1D73-4A70298D28F1}"/>
              </a:ext>
            </a:extLst>
          </p:cNvPr>
          <p:cNvSpPr>
            <a:spLocks noGrp="1"/>
          </p:cNvSpPr>
          <p:nvPr>
            <p:ph type="title"/>
          </p:nvPr>
        </p:nvSpPr>
        <p:spPr/>
        <p:txBody>
          <a:bodyPr/>
          <a:lstStyle/>
          <a:p>
            <a:r>
              <a:rPr lang="en-GB" dirty="0"/>
              <a:t>Database Implementation</a:t>
            </a:r>
          </a:p>
        </p:txBody>
      </p:sp>
      <p:sp>
        <p:nvSpPr>
          <p:cNvPr id="4" name="Content Placeholder 3">
            <a:extLst>
              <a:ext uri="{FF2B5EF4-FFF2-40B4-BE49-F238E27FC236}">
                <a16:creationId xmlns:a16="http://schemas.microsoft.com/office/drawing/2014/main" id="{383C0E35-F070-FF83-F817-9082493E8D9D}"/>
              </a:ext>
            </a:extLst>
          </p:cNvPr>
          <p:cNvSpPr>
            <a:spLocks noGrp="1"/>
          </p:cNvSpPr>
          <p:nvPr>
            <p:ph sz="half" idx="1"/>
          </p:nvPr>
        </p:nvSpPr>
        <p:spPr/>
        <p:txBody>
          <a:bodyPr>
            <a:normAutofit fontScale="77500" lnSpcReduction="20000"/>
          </a:bodyPr>
          <a:lstStyle/>
          <a:p>
            <a:endParaRPr lang="en-GB" dirty="0"/>
          </a:p>
        </p:txBody>
      </p:sp>
      <p:sp>
        <p:nvSpPr>
          <p:cNvPr id="6" name="Content Placeholder 5">
            <a:extLst>
              <a:ext uri="{FF2B5EF4-FFF2-40B4-BE49-F238E27FC236}">
                <a16:creationId xmlns:a16="http://schemas.microsoft.com/office/drawing/2014/main" id="{5DDD4657-355A-4D3E-95ED-C24AA4A4030D}"/>
              </a:ext>
            </a:extLst>
          </p:cNvPr>
          <p:cNvSpPr>
            <a:spLocks noGrp="1"/>
          </p:cNvSpPr>
          <p:nvPr>
            <p:ph sz="half" idx="2"/>
          </p:nvPr>
        </p:nvSpPr>
        <p:spPr/>
        <p:txBody>
          <a:bodyPr>
            <a:normAutofit fontScale="77500" lnSpcReduction="20000"/>
          </a:bodyPr>
          <a:lstStyle/>
          <a:p>
            <a:r>
              <a:rPr lang="en-GB" dirty="0">
                <a:solidFill>
                  <a:srgbClr val="FF0000"/>
                </a:solidFill>
              </a:rPr>
              <a:t>Show sample SQL DDL statements in this block and discuss the implementation decisions made</a:t>
            </a:r>
          </a:p>
          <a:p>
            <a:r>
              <a:rPr lang="en-GB" dirty="0">
                <a:solidFill>
                  <a:srgbClr val="FF0000"/>
                </a:solidFill>
              </a:rPr>
              <a:t>If you wish to draw attention to multiple blocks of important code then use multiple slides / an embedded video</a:t>
            </a:r>
          </a:p>
          <a:p>
            <a:pPr lvl="1"/>
            <a:r>
              <a:rPr lang="en-GB" dirty="0">
                <a:solidFill>
                  <a:srgbClr val="FF0000"/>
                </a:solidFill>
              </a:rPr>
              <a:t>Use this as an opportunity for each student to demonstrate how they contributed towards the DB design / implementation</a:t>
            </a:r>
          </a:p>
          <a:p>
            <a:pPr lvl="1"/>
            <a:r>
              <a:rPr lang="en-GB" dirty="0">
                <a:solidFill>
                  <a:srgbClr val="FF0000"/>
                </a:solidFill>
              </a:rPr>
              <a:t>Each of you should demonstrate the learning outcome:</a:t>
            </a:r>
          </a:p>
          <a:p>
            <a:pPr lvl="2"/>
            <a:r>
              <a:rPr lang="en-GB" dirty="0">
                <a:solidFill>
                  <a:srgbClr val="FF0000"/>
                </a:solidFill>
              </a:rPr>
              <a:t>Design and construct a well justified and appropriate Database architecture, using an appropriate assortment of query languages and tools on a host DBMS (e.g. SQL for RDBMS system, GQL/Cypher for GDBMS, etc)</a:t>
            </a:r>
          </a:p>
        </p:txBody>
      </p:sp>
      <p:sp>
        <p:nvSpPr>
          <p:cNvPr id="5" name="Slide Number Placeholder 4">
            <a:extLst>
              <a:ext uri="{FF2B5EF4-FFF2-40B4-BE49-F238E27FC236}">
                <a16:creationId xmlns:a16="http://schemas.microsoft.com/office/drawing/2014/main" id="{A9672AD3-5774-32B1-223F-D8D6DFD0B313}"/>
              </a:ext>
            </a:extLst>
          </p:cNvPr>
          <p:cNvSpPr>
            <a:spLocks noGrp="1"/>
          </p:cNvSpPr>
          <p:nvPr>
            <p:ph type="sldNum" sz="quarter" idx="12"/>
          </p:nvPr>
        </p:nvSpPr>
        <p:spPr/>
        <p:txBody>
          <a:bodyPr/>
          <a:lstStyle/>
          <a:p>
            <a:fld id="{B562D212-6087-423C-AFFF-BF351400B1FF}" type="slidenum">
              <a:rPr lang="en-GB" smtClean="0"/>
              <a:t>9</a:t>
            </a:fld>
            <a:endParaRPr lang="en-GB"/>
          </a:p>
        </p:txBody>
      </p:sp>
      <p:sp>
        <p:nvSpPr>
          <p:cNvPr id="12" name="TextBox 11">
            <a:extLst>
              <a:ext uri="{FF2B5EF4-FFF2-40B4-BE49-F238E27FC236}">
                <a16:creationId xmlns:a16="http://schemas.microsoft.com/office/drawing/2014/main" id="{AFF0F3CE-7B8D-F9BA-A4F9-B0F464E8E1D6}"/>
              </a:ext>
            </a:extLst>
          </p:cNvPr>
          <p:cNvSpPr txBox="1"/>
          <p:nvPr/>
        </p:nvSpPr>
        <p:spPr>
          <a:xfrm>
            <a:off x="838200" y="1461571"/>
            <a:ext cx="3758514" cy="369332"/>
          </a:xfrm>
          <a:prstGeom prst="rect">
            <a:avLst/>
          </a:prstGeom>
          <a:noFill/>
        </p:spPr>
        <p:txBody>
          <a:bodyPr wrap="square" lIns="91440" tIns="45720" rIns="91440" bIns="45720" rtlCol="0" anchor="t">
            <a:spAutoFit/>
          </a:bodyPr>
          <a:lstStyle/>
          <a:p>
            <a:r>
              <a:rPr lang="en-GB" dirty="0"/>
              <a:t>Presenting Team Member: Dan</a:t>
            </a:r>
            <a:endParaRPr lang="en-GB" dirty="0">
              <a:solidFill>
                <a:srgbClr val="FF0000"/>
              </a:solidFill>
              <a:ea typeface="Calibri"/>
              <a:cs typeface="Calibri"/>
            </a:endParaRPr>
          </a:p>
        </p:txBody>
      </p:sp>
      <p:pic>
        <p:nvPicPr>
          <p:cNvPr id="7" name="Picture 2">
            <a:extLst>
              <a:ext uri="{FF2B5EF4-FFF2-40B4-BE49-F238E27FC236}">
                <a16:creationId xmlns:a16="http://schemas.microsoft.com/office/drawing/2014/main" id="{E36F9228-0676-FDEB-C87F-B7E200FA9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825626"/>
            <a:ext cx="5212853" cy="35708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3B2ECCD-D002-9AEC-F6E1-91E89CE58556}"/>
              </a:ext>
            </a:extLst>
          </p:cNvPr>
          <p:cNvPicPr>
            <a:picLocks noChangeAspect="1"/>
          </p:cNvPicPr>
          <p:nvPr/>
        </p:nvPicPr>
        <p:blipFill>
          <a:blip r:embed="rId5"/>
          <a:stretch>
            <a:fillRect/>
          </a:stretch>
        </p:blipFill>
        <p:spPr>
          <a:xfrm>
            <a:off x="0" y="6035040"/>
            <a:ext cx="12153900" cy="822960"/>
          </a:xfrm>
          <a:prstGeom prst="rect">
            <a:avLst/>
          </a:prstGeom>
        </p:spPr>
      </p:pic>
    </p:spTree>
    <p:extLst>
      <p:ext uri="{BB962C8B-B14F-4D97-AF65-F5344CB8AC3E}">
        <p14:creationId xmlns:p14="http://schemas.microsoft.com/office/powerpoint/2010/main" val="96508852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AA50A-D9D7-4D47-060B-0006CBC49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1D3EC-F7ED-F1C4-FC80-3EB9BA3BC6D9}"/>
              </a:ext>
            </a:extLst>
          </p:cNvPr>
          <p:cNvSpPr>
            <a:spLocks noGrp="1"/>
          </p:cNvSpPr>
          <p:nvPr>
            <p:ph type="title"/>
          </p:nvPr>
        </p:nvSpPr>
        <p:spPr/>
        <p:txBody>
          <a:bodyPr/>
          <a:lstStyle/>
          <a:p>
            <a:r>
              <a:rPr lang="en-GB" dirty="0"/>
              <a:t>Database Implementation</a:t>
            </a:r>
          </a:p>
        </p:txBody>
      </p:sp>
      <p:sp>
        <p:nvSpPr>
          <p:cNvPr id="4" name="Content Placeholder 3">
            <a:extLst>
              <a:ext uri="{FF2B5EF4-FFF2-40B4-BE49-F238E27FC236}">
                <a16:creationId xmlns:a16="http://schemas.microsoft.com/office/drawing/2014/main" id="{1BFC65EB-02A1-25FD-1C52-95D66A0AFD03}"/>
              </a:ext>
            </a:extLst>
          </p:cNvPr>
          <p:cNvSpPr>
            <a:spLocks noGrp="1"/>
          </p:cNvSpPr>
          <p:nvPr>
            <p:ph sz="half" idx="1"/>
          </p:nvPr>
        </p:nvSpPr>
        <p:spPr/>
        <p:txBody>
          <a:bodyPr>
            <a:normAutofit fontScale="77500" lnSpcReduction="20000"/>
          </a:bodyPr>
          <a:lstStyle/>
          <a:p>
            <a:endParaRPr lang="en-GB" dirty="0"/>
          </a:p>
        </p:txBody>
      </p:sp>
      <p:sp>
        <p:nvSpPr>
          <p:cNvPr id="6" name="Content Placeholder 5">
            <a:extLst>
              <a:ext uri="{FF2B5EF4-FFF2-40B4-BE49-F238E27FC236}">
                <a16:creationId xmlns:a16="http://schemas.microsoft.com/office/drawing/2014/main" id="{BDAEEF9F-41E8-9249-9060-5559EF7C9CD1}"/>
              </a:ext>
            </a:extLst>
          </p:cNvPr>
          <p:cNvSpPr>
            <a:spLocks noGrp="1"/>
          </p:cNvSpPr>
          <p:nvPr>
            <p:ph sz="half" idx="2"/>
          </p:nvPr>
        </p:nvSpPr>
        <p:spPr/>
        <p:txBody>
          <a:bodyPr>
            <a:normAutofit fontScale="77500" lnSpcReduction="20000"/>
          </a:bodyPr>
          <a:lstStyle/>
          <a:p>
            <a:r>
              <a:rPr lang="en-GB" dirty="0">
                <a:solidFill>
                  <a:srgbClr val="FF0000"/>
                </a:solidFill>
              </a:rPr>
              <a:t>Show sample SQL DML statements which insert data into the database within this block and discuss the implementation decisions made</a:t>
            </a:r>
          </a:p>
          <a:p>
            <a:r>
              <a:rPr lang="en-GB" dirty="0">
                <a:solidFill>
                  <a:srgbClr val="FF0000"/>
                </a:solidFill>
              </a:rPr>
              <a:t>If you wish to draw attention to multiple blocks of important code then use multiple slides / an embedded video</a:t>
            </a:r>
          </a:p>
          <a:p>
            <a:pPr lvl="1"/>
            <a:r>
              <a:rPr lang="en-GB" dirty="0">
                <a:solidFill>
                  <a:srgbClr val="FF0000"/>
                </a:solidFill>
              </a:rPr>
              <a:t>Use this as an opportunity for each student to demonstrate how they contributed towards the DB design / implementation</a:t>
            </a:r>
          </a:p>
          <a:p>
            <a:pPr lvl="1"/>
            <a:r>
              <a:rPr lang="en-GB" dirty="0">
                <a:solidFill>
                  <a:srgbClr val="FF0000"/>
                </a:solidFill>
              </a:rPr>
              <a:t>Each of you should demonstrate the learning outcome:</a:t>
            </a:r>
          </a:p>
          <a:p>
            <a:pPr lvl="2"/>
            <a:r>
              <a:rPr lang="en-GB" dirty="0">
                <a:solidFill>
                  <a:srgbClr val="FF0000"/>
                </a:solidFill>
              </a:rPr>
              <a:t>Design and construct a well justified and appropriate Database architecture, using an appropriate assortment of query languages and tools on a host DBMS (e.g. SQL for RDBMS system, GQL/Cypher for GDBMS, etc)</a:t>
            </a:r>
          </a:p>
          <a:p>
            <a:endParaRPr lang="en-GB" dirty="0"/>
          </a:p>
        </p:txBody>
      </p:sp>
      <p:sp>
        <p:nvSpPr>
          <p:cNvPr id="5" name="Slide Number Placeholder 4">
            <a:extLst>
              <a:ext uri="{FF2B5EF4-FFF2-40B4-BE49-F238E27FC236}">
                <a16:creationId xmlns:a16="http://schemas.microsoft.com/office/drawing/2014/main" id="{0470B890-D211-FE13-A341-CC37C419E03F}"/>
              </a:ext>
            </a:extLst>
          </p:cNvPr>
          <p:cNvSpPr>
            <a:spLocks noGrp="1"/>
          </p:cNvSpPr>
          <p:nvPr>
            <p:ph type="sldNum" sz="quarter" idx="12"/>
          </p:nvPr>
        </p:nvSpPr>
        <p:spPr/>
        <p:txBody>
          <a:bodyPr/>
          <a:lstStyle/>
          <a:p>
            <a:fld id="{B562D212-6087-423C-AFFF-BF351400B1FF}" type="slidenum">
              <a:rPr lang="en-GB" smtClean="0"/>
              <a:t>10</a:t>
            </a:fld>
            <a:endParaRPr lang="en-GB"/>
          </a:p>
        </p:txBody>
      </p:sp>
      <p:sp>
        <p:nvSpPr>
          <p:cNvPr id="12" name="TextBox 11">
            <a:extLst>
              <a:ext uri="{FF2B5EF4-FFF2-40B4-BE49-F238E27FC236}">
                <a16:creationId xmlns:a16="http://schemas.microsoft.com/office/drawing/2014/main" id="{B79160D6-1290-2C0B-A289-B8DA43D00581}"/>
              </a:ext>
            </a:extLst>
          </p:cNvPr>
          <p:cNvSpPr txBox="1"/>
          <p:nvPr/>
        </p:nvSpPr>
        <p:spPr>
          <a:xfrm>
            <a:off x="838200" y="1461571"/>
            <a:ext cx="3758514" cy="369332"/>
          </a:xfrm>
          <a:prstGeom prst="rect">
            <a:avLst/>
          </a:prstGeom>
          <a:noFill/>
        </p:spPr>
        <p:txBody>
          <a:bodyPr wrap="square" rtlCol="0">
            <a:spAutoFit/>
          </a:bodyPr>
          <a:lstStyle/>
          <a:p>
            <a:r>
              <a:rPr lang="en-GB" dirty="0"/>
              <a:t>Presenting Team Member: </a:t>
            </a:r>
            <a:r>
              <a:rPr lang="en-GB" dirty="0">
                <a:solidFill>
                  <a:srgbClr val="FF0000"/>
                </a:solidFill>
              </a:rPr>
              <a:t>Student 1</a:t>
            </a:r>
          </a:p>
        </p:txBody>
      </p:sp>
      <p:pic>
        <p:nvPicPr>
          <p:cNvPr id="7" name="Picture 2">
            <a:extLst>
              <a:ext uri="{FF2B5EF4-FFF2-40B4-BE49-F238E27FC236}">
                <a16:creationId xmlns:a16="http://schemas.microsoft.com/office/drawing/2014/main" id="{5FCF539C-35E0-EAD6-4EB6-8AD53ADE4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825626"/>
            <a:ext cx="5212853" cy="35708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00C52A9-9B41-2E76-CE38-5207D0843B22}"/>
              </a:ext>
            </a:extLst>
          </p:cNvPr>
          <p:cNvPicPr>
            <a:picLocks noChangeAspect="1"/>
          </p:cNvPicPr>
          <p:nvPr/>
        </p:nvPicPr>
        <p:blipFill>
          <a:blip r:embed="rId5"/>
          <a:stretch>
            <a:fillRect/>
          </a:stretch>
        </p:blipFill>
        <p:spPr>
          <a:xfrm>
            <a:off x="0" y="6035040"/>
            <a:ext cx="12153900" cy="822960"/>
          </a:xfrm>
          <a:prstGeom prst="rect">
            <a:avLst/>
          </a:prstGeom>
        </p:spPr>
      </p:pic>
    </p:spTree>
    <p:extLst>
      <p:ext uri="{BB962C8B-B14F-4D97-AF65-F5344CB8AC3E}">
        <p14:creationId xmlns:p14="http://schemas.microsoft.com/office/powerpoint/2010/main" val="92190582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8304E43-9874-2AC1-48BA-7F64A5B4B1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594A78-57DB-EF47-8A8E-C11BCBB80792}"/>
              </a:ext>
            </a:extLst>
          </p:cNvPr>
          <p:cNvSpPr>
            <a:spLocks noGrp="1"/>
          </p:cNvSpPr>
          <p:nvPr>
            <p:ph type="title"/>
          </p:nvPr>
        </p:nvSpPr>
        <p:spPr/>
        <p:txBody>
          <a:bodyPr/>
          <a:lstStyle/>
          <a:p>
            <a:pPr algn="ctr"/>
            <a:r>
              <a:rPr lang="en-GB" dirty="0">
                <a:solidFill>
                  <a:srgbClr val="FF0000"/>
                </a:solidFill>
              </a:rPr>
              <a:t>Web Service </a:t>
            </a:r>
            <a:br>
              <a:rPr lang="en-GB" dirty="0">
                <a:solidFill>
                  <a:srgbClr val="FF0000"/>
                </a:solidFill>
              </a:rPr>
            </a:br>
            <a:r>
              <a:rPr lang="en-GB" dirty="0">
                <a:solidFill>
                  <a:srgbClr val="FF0000"/>
                </a:solidFill>
              </a:rPr>
              <a:t>Design and Implementation</a:t>
            </a:r>
          </a:p>
        </p:txBody>
      </p:sp>
      <p:sp>
        <p:nvSpPr>
          <p:cNvPr id="5" name="Text Placeholder 4">
            <a:extLst>
              <a:ext uri="{FF2B5EF4-FFF2-40B4-BE49-F238E27FC236}">
                <a16:creationId xmlns:a16="http://schemas.microsoft.com/office/drawing/2014/main" id="{CD0A9E84-466E-B1A5-3D3D-2076493BF46C}"/>
              </a:ext>
            </a:extLst>
          </p:cNvPr>
          <p:cNvSpPr>
            <a:spLocks noGrp="1"/>
          </p:cNvSpPr>
          <p:nvPr>
            <p:ph type="body" idx="1"/>
          </p:nvPr>
        </p:nvSpPr>
        <p:spPr/>
        <p:txBody>
          <a:bodyPr/>
          <a:lstStyle/>
          <a:p>
            <a:r>
              <a:rPr lang="en-GB" dirty="0">
                <a:solidFill>
                  <a:srgbClr val="FF0000"/>
                </a:solidFill>
              </a:rPr>
              <a:t>This slide is hidden do not record on it, it is simply meant to divide the presentation template into sections</a:t>
            </a:r>
          </a:p>
        </p:txBody>
      </p:sp>
    </p:spTree>
    <p:extLst>
      <p:ext uri="{BB962C8B-B14F-4D97-AF65-F5344CB8AC3E}">
        <p14:creationId xmlns:p14="http://schemas.microsoft.com/office/powerpoint/2010/main" val="2030888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A16F-5017-1C1B-E5BF-76BF42D958EE}"/>
              </a:ext>
            </a:extLst>
          </p:cNvPr>
          <p:cNvSpPr>
            <a:spLocks noGrp="1"/>
          </p:cNvSpPr>
          <p:nvPr>
            <p:ph type="title"/>
          </p:nvPr>
        </p:nvSpPr>
        <p:spPr/>
        <p:txBody>
          <a:bodyPr/>
          <a:lstStyle/>
          <a:p>
            <a:r>
              <a:rPr lang="en-GB" dirty="0"/>
              <a:t>Web Service Implementation</a:t>
            </a:r>
          </a:p>
        </p:txBody>
      </p:sp>
      <p:sp>
        <p:nvSpPr>
          <p:cNvPr id="4" name="Content Placeholder 3">
            <a:extLst>
              <a:ext uri="{FF2B5EF4-FFF2-40B4-BE49-F238E27FC236}">
                <a16:creationId xmlns:a16="http://schemas.microsoft.com/office/drawing/2014/main" id="{27ECB15D-6257-CEBD-5A41-BA7961E42C48}"/>
              </a:ext>
            </a:extLst>
          </p:cNvPr>
          <p:cNvSpPr>
            <a:spLocks noGrp="1"/>
          </p:cNvSpPr>
          <p:nvPr>
            <p:ph sz="half" idx="2"/>
          </p:nvPr>
        </p:nvSpPr>
        <p:spPr/>
        <p:txBody>
          <a:bodyPr/>
          <a:lstStyle/>
          <a:p>
            <a:r>
              <a:rPr lang="en-GB" dirty="0">
                <a:solidFill>
                  <a:srgbClr val="FF0000"/>
                </a:solidFill>
              </a:rPr>
              <a:t>Define what a web service is</a:t>
            </a:r>
          </a:p>
        </p:txBody>
      </p:sp>
      <p:sp>
        <p:nvSpPr>
          <p:cNvPr id="5" name="Slide Number Placeholder 4">
            <a:extLst>
              <a:ext uri="{FF2B5EF4-FFF2-40B4-BE49-F238E27FC236}">
                <a16:creationId xmlns:a16="http://schemas.microsoft.com/office/drawing/2014/main" id="{77ADF054-D0DE-22B2-1976-BAF9E7C5EF75}"/>
              </a:ext>
            </a:extLst>
          </p:cNvPr>
          <p:cNvSpPr>
            <a:spLocks noGrp="1"/>
          </p:cNvSpPr>
          <p:nvPr>
            <p:ph type="sldNum" sz="quarter" idx="12"/>
          </p:nvPr>
        </p:nvSpPr>
        <p:spPr/>
        <p:txBody>
          <a:bodyPr/>
          <a:lstStyle/>
          <a:p>
            <a:fld id="{B562D212-6087-423C-AFFF-BF351400B1FF}" type="slidenum">
              <a:rPr lang="en-GB" smtClean="0"/>
              <a:t>12</a:t>
            </a:fld>
            <a:endParaRPr lang="en-GB"/>
          </a:p>
        </p:txBody>
      </p:sp>
      <p:pic>
        <p:nvPicPr>
          <p:cNvPr id="6" name="Content Placeholder 5">
            <a:extLst>
              <a:ext uri="{FF2B5EF4-FFF2-40B4-BE49-F238E27FC236}">
                <a16:creationId xmlns:a16="http://schemas.microsoft.com/office/drawing/2014/main" id="{AA6D55E1-219E-318E-E15F-FB765DF2AFDC}"/>
              </a:ext>
            </a:extLst>
          </p:cNvPr>
          <p:cNvPicPr>
            <a:picLocks noGrp="1" noChangeAspect="1"/>
          </p:cNvPicPr>
          <p:nvPr>
            <p:ph sz="half" idx="1"/>
          </p:nvPr>
        </p:nvPicPr>
        <p:blipFill>
          <a:blip r:embed="rId3"/>
          <a:stretch>
            <a:fillRect/>
          </a:stretch>
        </p:blipFill>
        <p:spPr>
          <a:xfrm>
            <a:off x="838200" y="2074226"/>
            <a:ext cx="5181600" cy="3854135"/>
          </a:xfrm>
          <a:prstGeom prst="rect">
            <a:avLst/>
          </a:prstGeom>
        </p:spPr>
      </p:pic>
      <p:pic>
        <p:nvPicPr>
          <p:cNvPr id="7" name="Picture 6">
            <a:extLst>
              <a:ext uri="{FF2B5EF4-FFF2-40B4-BE49-F238E27FC236}">
                <a16:creationId xmlns:a16="http://schemas.microsoft.com/office/drawing/2014/main" id="{E0575763-63A6-F7C6-3DA5-C5F746648BB6}"/>
              </a:ext>
            </a:extLst>
          </p:cNvPr>
          <p:cNvPicPr>
            <a:picLocks noChangeAspect="1"/>
          </p:cNvPicPr>
          <p:nvPr/>
        </p:nvPicPr>
        <p:blipFill>
          <a:blip r:embed="rId4"/>
          <a:stretch>
            <a:fillRect/>
          </a:stretch>
        </p:blipFill>
        <p:spPr>
          <a:xfrm>
            <a:off x="0" y="6035040"/>
            <a:ext cx="12153900" cy="822960"/>
          </a:xfrm>
          <a:prstGeom prst="rect">
            <a:avLst/>
          </a:prstGeom>
        </p:spPr>
      </p:pic>
      <p:sp>
        <p:nvSpPr>
          <p:cNvPr id="9" name="TextBox 8">
            <a:extLst>
              <a:ext uri="{FF2B5EF4-FFF2-40B4-BE49-F238E27FC236}">
                <a16:creationId xmlns:a16="http://schemas.microsoft.com/office/drawing/2014/main" id="{F6754AD4-2AA1-CE5F-9915-41C208AF4F1C}"/>
              </a:ext>
            </a:extLst>
          </p:cNvPr>
          <p:cNvSpPr txBox="1"/>
          <p:nvPr/>
        </p:nvSpPr>
        <p:spPr>
          <a:xfrm>
            <a:off x="838200" y="1374696"/>
            <a:ext cx="6098058" cy="369332"/>
          </a:xfrm>
          <a:prstGeom prst="rect">
            <a:avLst/>
          </a:prstGeom>
          <a:noFill/>
        </p:spPr>
        <p:txBody>
          <a:bodyPr wrap="square">
            <a:spAutoFit/>
          </a:bodyPr>
          <a:lstStyle/>
          <a:p>
            <a:r>
              <a:rPr lang="en-GB" dirty="0"/>
              <a:t>Presenting Team Member: </a:t>
            </a:r>
            <a:r>
              <a:rPr lang="en-GB" dirty="0">
                <a:solidFill>
                  <a:srgbClr val="FF0000"/>
                </a:solidFill>
              </a:rPr>
              <a:t>Student 2</a:t>
            </a:r>
          </a:p>
        </p:txBody>
      </p:sp>
    </p:spTree>
    <p:extLst>
      <p:ext uri="{BB962C8B-B14F-4D97-AF65-F5344CB8AC3E}">
        <p14:creationId xmlns:p14="http://schemas.microsoft.com/office/powerpoint/2010/main" val="2373802056"/>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91FA8-8092-E9A6-57A1-390D4CE8B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F8C4F-6560-E830-9F0D-37223A451B31}"/>
              </a:ext>
            </a:extLst>
          </p:cNvPr>
          <p:cNvSpPr>
            <a:spLocks noGrp="1"/>
          </p:cNvSpPr>
          <p:nvPr>
            <p:ph type="title"/>
          </p:nvPr>
        </p:nvSpPr>
        <p:spPr/>
        <p:txBody>
          <a:bodyPr/>
          <a:lstStyle/>
          <a:p>
            <a:r>
              <a:rPr lang="en-GB" dirty="0"/>
              <a:t>Web Service Implementation</a:t>
            </a:r>
          </a:p>
        </p:txBody>
      </p:sp>
      <p:sp>
        <p:nvSpPr>
          <p:cNvPr id="4" name="Content Placeholder 3">
            <a:extLst>
              <a:ext uri="{FF2B5EF4-FFF2-40B4-BE49-F238E27FC236}">
                <a16:creationId xmlns:a16="http://schemas.microsoft.com/office/drawing/2014/main" id="{F6599409-C29A-2257-8882-BB5195EB4E9A}"/>
              </a:ext>
            </a:extLst>
          </p:cNvPr>
          <p:cNvSpPr>
            <a:spLocks noGrp="1"/>
          </p:cNvSpPr>
          <p:nvPr>
            <p:ph sz="half" idx="2"/>
          </p:nvPr>
        </p:nvSpPr>
        <p:spPr/>
        <p:txBody>
          <a:bodyPr>
            <a:normAutofit fontScale="70000" lnSpcReduction="20000"/>
          </a:bodyPr>
          <a:lstStyle/>
          <a:p>
            <a:r>
              <a:rPr lang="en-GB" dirty="0">
                <a:solidFill>
                  <a:srgbClr val="FF0000"/>
                </a:solidFill>
              </a:rPr>
              <a:t>Show some sample source code in this block for one or more endpoints/ routes which demonstrate how different resources can be accessed via the web service</a:t>
            </a:r>
          </a:p>
          <a:p>
            <a:r>
              <a:rPr lang="en-GB" dirty="0">
                <a:solidFill>
                  <a:srgbClr val="FF0000"/>
                </a:solidFill>
              </a:rPr>
              <a:t>If you wish to draw attention to multiple blocks of important code then use multiple slides / an embedded video</a:t>
            </a:r>
          </a:p>
          <a:p>
            <a:pPr lvl="1"/>
            <a:r>
              <a:rPr lang="en-GB" dirty="0">
                <a:solidFill>
                  <a:srgbClr val="FF0000"/>
                </a:solidFill>
              </a:rPr>
              <a:t>Use this as an opportunity for each student to demonstrate how they contributed towards the web service design / implementation</a:t>
            </a:r>
          </a:p>
          <a:p>
            <a:pPr lvl="1"/>
            <a:r>
              <a:rPr lang="en-GB" dirty="0">
                <a:solidFill>
                  <a:srgbClr val="FF0000"/>
                </a:solidFill>
              </a:rPr>
              <a:t>Each of you should demonstrate the learning outcome:</a:t>
            </a:r>
          </a:p>
          <a:p>
            <a:pPr lvl="2"/>
            <a:r>
              <a:rPr lang="en-GB" dirty="0">
                <a:solidFill>
                  <a:srgbClr val="FF0000"/>
                </a:solidFill>
              </a:rPr>
              <a:t>Demonstrate development skills through the planning and implementation of a sufficiently justified backend web service and effectively link this with a client system using an assortment of appropriate tools and techniques (e.g. leveraging web microframeworks for the backend, with client-side scripting in JavaScript)</a:t>
            </a:r>
          </a:p>
        </p:txBody>
      </p:sp>
      <p:sp>
        <p:nvSpPr>
          <p:cNvPr id="5" name="Slide Number Placeholder 4">
            <a:extLst>
              <a:ext uri="{FF2B5EF4-FFF2-40B4-BE49-F238E27FC236}">
                <a16:creationId xmlns:a16="http://schemas.microsoft.com/office/drawing/2014/main" id="{773D3C23-21F0-9CD7-CA20-3DDBEBBAE3B3}"/>
              </a:ext>
            </a:extLst>
          </p:cNvPr>
          <p:cNvSpPr>
            <a:spLocks noGrp="1"/>
          </p:cNvSpPr>
          <p:nvPr>
            <p:ph type="sldNum" sz="quarter" idx="12"/>
          </p:nvPr>
        </p:nvSpPr>
        <p:spPr/>
        <p:txBody>
          <a:bodyPr/>
          <a:lstStyle/>
          <a:p>
            <a:fld id="{B562D212-6087-423C-AFFF-BF351400B1FF}" type="slidenum">
              <a:rPr lang="en-GB" smtClean="0"/>
              <a:t>13</a:t>
            </a:fld>
            <a:endParaRPr lang="en-GB"/>
          </a:p>
        </p:txBody>
      </p:sp>
      <p:graphicFrame>
        <p:nvGraphicFramePr>
          <p:cNvPr id="9" name="Table 8">
            <a:extLst>
              <a:ext uri="{FF2B5EF4-FFF2-40B4-BE49-F238E27FC236}">
                <a16:creationId xmlns:a16="http://schemas.microsoft.com/office/drawing/2014/main" id="{C073345B-FCF4-BEA6-2B01-F1FBB56F1479}"/>
              </a:ext>
            </a:extLst>
          </p:cNvPr>
          <p:cNvGraphicFramePr>
            <a:graphicFrameLocks noGrp="1"/>
          </p:cNvGraphicFramePr>
          <p:nvPr>
            <p:extLst>
              <p:ext uri="{D42A27DB-BD31-4B8C-83A1-F6EECF244321}">
                <p14:modId xmlns:p14="http://schemas.microsoft.com/office/powerpoint/2010/main" val="1262243306"/>
              </p:ext>
            </p:extLst>
          </p:nvPr>
        </p:nvGraphicFramePr>
        <p:xfrm>
          <a:off x="1143343" y="2082114"/>
          <a:ext cx="4250038" cy="3032760"/>
        </p:xfrm>
        <a:graphic>
          <a:graphicData uri="http://schemas.openxmlformats.org/drawingml/2006/table">
            <a:tbl>
              <a:tblPr firstRow="1" bandRow="1">
                <a:tableStyleId>{5C22544A-7EE6-4342-B048-85BDC9FD1C3A}</a:tableStyleId>
              </a:tblPr>
              <a:tblGrid>
                <a:gridCol w="2603381">
                  <a:extLst>
                    <a:ext uri="{9D8B030D-6E8A-4147-A177-3AD203B41FA5}">
                      <a16:colId xmlns:a16="http://schemas.microsoft.com/office/drawing/2014/main" val="3160096713"/>
                    </a:ext>
                  </a:extLst>
                </a:gridCol>
                <a:gridCol w="1646657">
                  <a:extLst>
                    <a:ext uri="{9D8B030D-6E8A-4147-A177-3AD203B41FA5}">
                      <a16:colId xmlns:a16="http://schemas.microsoft.com/office/drawing/2014/main" val="1788658212"/>
                    </a:ext>
                  </a:extLst>
                </a:gridCol>
              </a:tblGrid>
              <a:tr h="370840">
                <a:tc>
                  <a:txBody>
                    <a:bodyPr/>
                    <a:lstStyle/>
                    <a:p>
                      <a:r>
                        <a:rPr lang="en-GB" dirty="0"/>
                        <a:t>Endpoint</a:t>
                      </a:r>
                    </a:p>
                  </a:txBody>
                  <a:tcPr/>
                </a:tc>
                <a:tc>
                  <a:txBody>
                    <a:bodyPr/>
                    <a:lstStyle/>
                    <a:p>
                      <a:r>
                        <a:rPr lang="en-GB" dirty="0"/>
                        <a:t>HTTP Method(s)</a:t>
                      </a:r>
                    </a:p>
                  </a:txBody>
                  <a:tcPr/>
                </a:tc>
                <a:extLst>
                  <a:ext uri="{0D108BD9-81ED-4DB2-BD59-A6C34878D82A}">
                    <a16:rowId xmlns:a16="http://schemas.microsoft.com/office/drawing/2014/main" val="2790317030"/>
                  </a:ext>
                </a:extLst>
              </a:tr>
              <a:tr h="370840">
                <a:tc>
                  <a:txBody>
                    <a:bodyPr/>
                    <a:lstStyle/>
                    <a:p>
                      <a:r>
                        <a:rPr lang="en-GB" b="1" dirty="0"/>
                        <a:t>/order</a:t>
                      </a:r>
                    </a:p>
                  </a:txBody>
                  <a:tcPr/>
                </a:tc>
                <a:tc>
                  <a:txBody>
                    <a:bodyPr/>
                    <a:lstStyle/>
                    <a:p>
                      <a:r>
                        <a:rPr lang="en-GB" b="1" dirty="0"/>
                        <a:t>GET, POST, HEAD</a:t>
                      </a:r>
                    </a:p>
                  </a:txBody>
                  <a:tcPr/>
                </a:tc>
                <a:extLst>
                  <a:ext uri="{0D108BD9-81ED-4DB2-BD59-A6C34878D82A}">
                    <a16:rowId xmlns:a16="http://schemas.microsoft.com/office/drawing/2014/main" val="3906053195"/>
                  </a:ext>
                </a:extLst>
              </a:tr>
              <a:tr h="370840">
                <a:tc>
                  <a:txBody>
                    <a:bodyPr/>
                    <a:lstStyle/>
                    <a:p>
                      <a:r>
                        <a:rPr lang="en-GB" dirty="0"/>
                        <a:t>/order/&lt;</a:t>
                      </a:r>
                      <a:r>
                        <a:rPr lang="en-GB" dirty="0" err="1"/>
                        <a:t>orderNumber</a:t>
                      </a:r>
                      <a:r>
                        <a:rPr lang="en-GB" dirty="0"/>
                        <a:t>&gt;</a:t>
                      </a:r>
                    </a:p>
                  </a:txBody>
                  <a:tcPr/>
                </a:tc>
                <a:tc>
                  <a:txBody>
                    <a:bodyPr/>
                    <a:lstStyle/>
                    <a:p>
                      <a:r>
                        <a:rPr lang="en-GB" dirty="0"/>
                        <a:t>GET, POST, PUT, DELETE</a:t>
                      </a:r>
                    </a:p>
                  </a:txBody>
                  <a:tcPr/>
                </a:tc>
                <a:extLst>
                  <a:ext uri="{0D108BD9-81ED-4DB2-BD59-A6C34878D82A}">
                    <a16:rowId xmlns:a16="http://schemas.microsoft.com/office/drawing/2014/main" val="1285679205"/>
                  </a:ext>
                </a:extLst>
              </a:tr>
              <a:tr h="370840">
                <a:tc>
                  <a:txBody>
                    <a:bodyPr/>
                    <a:lstStyle/>
                    <a:p>
                      <a:r>
                        <a:rPr lang="en-GB" dirty="0"/>
                        <a:t>…</a:t>
                      </a:r>
                    </a:p>
                  </a:txBody>
                  <a:tcPr/>
                </a:tc>
                <a:tc>
                  <a:txBody>
                    <a:bodyPr/>
                    <a:lstStyle/>
                    <a:p>
                      <a:r>
                        <a:rPr lang="en-GB" dirty="0"/>
                        <a:t>…</a:t>
                      </a:r>
                    </a:p>
                  </a:txBody>
                  <a:tcPr/>
                </a:tc>
                <a:extLst>
                  <a:ext uri="{0D108BD9-81ED-4DB2-BD59-A6C34878D82A}">
                    <a16:rowId xmlns:a16="http://schemas.microsoft.com/office/drawing/2014/main" val="1607250145"/>
                  </a:ext>
                </a:extLst>
              </a:tr>
              <a:tr h="370840">
                <a:tc>
                  <a:txBody>
                    <a:bodyPr/>
                    <a:lstStyle/>
                    <a:p>
                      <a:r>
                        <a:rPr lang="en-GB" dirty="0"/>
                        <a:t>…</a:t>
                      </a:r>
                    </a:p>
                  </a:txBody>
                  <a:tcPr/>
                </a:tc>
                <a:tc>
                  <a:txBody>
                    <a:bodyPr/>
                    <a:lstStyle/>
                    <a:p>
                      <a:r>
                        <a:rPr lang="en-GB" dirty="0"/>
                        <a:t>…</a:t>
                      </a:r>
                    </a:p>
                  </a:txBody>
                  <a:tcPr/>
                </a:tc>
                <a:extLst>
                  <a:ext uri="{0D108BD9-81ED-4DB2-BD59-A6C34878D82A}">
                    <a16:rowId xmlns:a16="http://schemas.microsoft.com/office/drawing/2014/main" val="4057687253"/>
                  </a:ext>
                </a:extLst>
              </a:tr>
              <a:tr h="370840">
                <a:tc>
                  <a:txBody>
                    <a:bodyPr/>
                    <a:lstStyle/>
                    <a:p>
                      <a:r>
                        <a:rPr lang="en-GB" dirty="0"/>
                        <a:t>…</a:t>
                      </a:r>
                    </a:p>
                  </a:txBody>
                  <a:tcPr/>
                </a:tc>
                <a:tc>
                  <a:txBody>
                    <a:bodyPr/>
                    <a:lstStyle/>
                    <a:p>
                      <a:r>
                        <a:rPr lang="en-GB" dirty="0"/>
                        <a:t>…</a:t>
                      </a:r>
                    </a:p>
                  </a:txBody>
                  <a:tcPr/>
                </a:tc>
                <a:extLst>
                  <a:ext uri="{0D108BD9-81ED-4DB2-BD59-A6C34878D82A}">
                    <a16:rowId xmlns:a16="http://schemas.microsoft.com/office/drawing/2014/main" val="4023985748"/>
                  </a:ext>
                </a:extLst>
              </a:tr>
            </a:tbl>
          </a:graphicData>
        </a:graphic>
      </p:graphicFrame>
      <p:pic>
        <p:nvPicPr>
          <p:cNvPr id="12" name="Picture 11">
            <a:extLst>
              <a:ext uri="{FF2B5EF4-FFF2-40B4-BE49-F238E27FC236}">
                <a16:creationId xmlns:a16="http://schemas.microsoft.com/office/drawing/2014/main" id="{FEFD6226-84D6-DF93-6F8A-5F7DFFBB31C1}"/>
              </a:ext>
            </a:extLst>
          </p:cNvPr>
          <p:cNvPicPr>
            <a:picLocks noChangeAspect="1"/>
          </p:cNvPicPr>
          <p:nvPr/>
        </p:nvPicPr>
        <p:blipFill>
          <a:blip r:embed="rId4"/>
          <a:stretch>
            <a:fillRect/>
          </a:stretch>
        </p:blipFill>
        <p:spPr>
          <a:xfrm>
            <a:off x="0" y="6035040"/>
            <a:ext cx="12153900" cy="822960"/>
          </a:xfrm>
          <a:prstGeom prst="rect">
            <a:avLst/>
          </a:prstGeom>
        </p:spPr>
      </p:pic>
      <p:sp>
        <p:nvSpPr>
          <p:cNvPr id="13" name="TextBox 12">
            <a:extLst>
              <a:ext uri="{FF2B5EF4-FFF2-40B4-BE49-F238E27FC236}">
                <a16:creationId xmlns:a16="http://schemas.microsoft.com/office/drawing/2014/main" id="{1DED0F3A-7E4C-C39C-09AC-3F044BA9356D}"/>
              </a:ext>
            </a:extLst>
          </p:cNvPr>
          <p:cNvSpPr txBox="1"/>
          <p:nvPr/>
        </p:nvSpPr>
        <p:spPr>
          <a:xfrm>
            <a:off x="838200" y="1374696"/>
            <a:ext cx="6098058" cy="369332"/>
          </a:xfrm>
          <a:prstGeom prst="rect">
            <a:avLst/>
          </a:prstGeom>
          <a:noFill/>
        </p:spPr>
        <p:txBody>
          <a:bodyPr wrap="square">
            <a:spAutoFit/>
          </a:bodyPr>
          <a:lstStyle/>
          <a:p>
            <a:r>
              <a:rPr lang="en-GB" dirty="0"/>
              <a:t>Presenting Team Member: </a:t>
            </a:r>
            <a:r>
              <a:rPr lang="en-GB" dirty="0">
                <a:solidFill>
                  <a:srgbClr val="FF0000"/>
                </a:solidFill>
              </a:rPr>
              <a:t>Student 3</a:t>
            </a:r>
          </a:p>
        </p:txBody>
      </p:sp>
    </p:spTree>
    <p:extLst>
      <p:ext uri="{BB962C8B-B14F-4D97-AF65-F5344CB8AC3E}">
        <p14:creationId xmlns:p14="http://schemas.microsoft.com/office/powerpoint/2010/main" val="1499978597"/>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4A5CD-FBB5-95EB-1F88-E3DD01A12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81EC8-DEFE-1D55-12C4-9381E113DD51}"/>
              </a:ext>
            </a:extLst>
          </p:cNvPr>
          <p:cNvSpPr>
            <a:spLocks noGrp="1"/>
          </p:cNvSpPr>
          <p:nvPr>
            <p:ph type="title"/>
          </p:nvPr>
        </p:nvSpPr>
        <p:spPr/>
        <p:txBody>
          <a:bodyPr/>
          <a:lstStyle/>
          <a:p>
            <a:r>
              <a:rPr lang="en-GB" dirty="0"/>
              <a:t>Web Service Implementation</a:t>
            </a:r>
          </a:p>
        </p:txBody>
      </p:sp>
      <p:sp>
        <p:nvSpPr>
          <p:cNvPr id="4" name="Content Placeholder 3">
            <a:extLst>
              <a:ext uri="{FF2B5EF4-FFF2-40B4-BE49-F238E27FC236}">
                <a16:creationId xmlns:a16="http://schemas.microsoft.com/office/drawing/2014/main" id="{540D815C-2D50-CDB8-8356-84C87A0A0A44}"/>
              </a:ext>
            </a:extLst>
          </p:cNvPr>
          <p:cNvSpPr>
            <a:spLocks noGrp="1"/>
          </p:cNvSpPr>
          <p:nvPr>
            <p:ph sz="half" idx="2"/>
          </p:nvPr>
        </p:nvSpPr>
        <p:spPr/>
        <p:txBody>
          <a:bodyPr>
            <a:normAutofit fontScale="70000" lnSpcReduction="20000"/>
          </a:bodyPr>
          <a:lstStyle/>
          <a:p>
            <a:r>
              <a:rPr lang="en-GB" dirty="0">
                <a:solidFill>
                  <a:srgbClr val="FF0000"/>
                </a:solidFill>
              </a:rPr>
              <a:t>Show some sample source code in this block for one or more endpoints/ routes which demonstrate how different resources can be accessed via the web service</a:t>
            </a:r>
          </a:p>
          <a:p>
            <a:r>
              <a:rPr lang="en-GB" dirty="0">
                <a:solidFill>
                  <a:srgbClr val="FF0000"/>
                </a:solidFill>
              </a:rPr>
              <a:t>If you wish to draw attention to multiple blocks of important code then use multiple slides / and embedded video</a:t>
            </a:r>
          </a:p>
          <a:p>
            <a:pPr lvl="1"/>
            <a:r>
              <a:rPr lang="en-GB" dirty="0">
                <a:solidFill>
                  <a:srgbClr val="FF0000"/>
                </a:solidFill>
              </a:rPr>
              <a:t>Use this as an opportunity for each student to demonstrate how they contributed towards the web service design / implementation</a:t>
            </a:r>
          </a:p>
          <a:p>
            <a:pPr lvl="1"/>
            <a:r>
              <a:rPr lang="en-GB" dirty="0">
                <a:solidFill>
                  <a:srgbClr val="FF0000"/>
                </a:solidFill>
              </a:rPr>
              <a:t>Each of you should demonstrate the learning outcome:</a:t>
            </a:r>
          </a:p>
          <a:p>
            <a:pPr lvl="2"/>
            <a:r>
              <a:rPr lang="en-GB" dirty="0">
                <a:solidFill>
                  <a:srgbClr val="FF0000"/>
                </a:solidFill>
              </a:rPr>
              <a:t>Demonstrate development skills through the planning and implementation of a sufficiently justified backend web service and effectively link this with a client system using an assortment of appropriate tools and techniques (e.g. leveraging web microframeworks for the backend, with client-side scripting in JavaScript)</a:t>
            </a:r>
          </a:p>
        </p:txBody>
      </p:sp>
      <p:sp>
        <p:nvSpPr>
          <p:cNvPr id="5" name="Slide Number Placeholder 4">
            <a:extLst>
              <a:ext uri="{FF2B5EF4-FFF2-40B4-BE49-F238E27FC236}">
                <a16:creationId xmlns:a16="http://schemas.microsoft.com/office/drawing/2014/main" id="{EA8A6423-EF74-ED5A-41D5-E14C50FB8674}"/>
              </a:ext>
            </a:extLst>
          </p:cNvPr>
          <p:cNvSpPr>
            <a:spLocks noGrp="1"/>
          </p:cNvSpPr>
          <p:nvPr>
            <p:ph type="sldNum" sz="quarter" idx="12"/>
          </p:nvPr>
        </p:nvSpPr>
        <p:spPr/>
        <p:txBody>
          <a:bodyPr/>
          <a:lstStyle/>
          <a:p>
            <a:fld id="{B562D212-6087-423C-AFFF-BF351400B1FF}" type="slidenum">
              <a:rPr lang="en-GB" smtClean="0"/>
              <a:t>14</a:t>
            </a:fld>
            <a:endParaRPr lang="en-GB"/>
          </a:p>
        </p:txBody>
      </p:sp>
      <p:graphicFrame>
        <p:nvGraphicFramePr>
          <p:cNvPr id="9" name="Table 8">
            <a:extLst>
              <a:ext uri="{FF2B5EF4-FFF2-40B4-BE49-F238E27FC236}">
                <a16:creationId xmlns:a16="http://schemas.microsoft.com/office/drawing/2014/main" id="{8F1E33E3-2DFA-5C44-DDA5-78660DD593A2}"/>
              </a:ext>
            </a:extLst>
          </p:cNvPr>
          <p:cNvGraphicFramePr>
            <a:graphicFrameLocks noGrp="1"/>
          </p:cNvGraphicFramePr>
          <p:nvPr>
            <p:extLst>
              <p:ext uri="{D42A27DB-BD31-4B8C-83A1-F6EECF244321}">
                <p14:modId xmlns:p14="http://schemas.microsoft.com/office/powerpoint/2010/main" val="1131468774"/>
              </p:ext>
            </p:extLst>
          </p:nvPr>
        </p:nvGraphicFramePr>
        <p:xfrm>
          <a:off x="1143343" y="2082114"/>
          <a:ext cx="4250038" cy="2123440"/>
        </p:xfrm>
        <a:graphic>
          <a:graphicData uri="http://schemas.openxmlformats.org/drawingml/2006/table">
            <a:tbl>
              <a:tblPr firstRow="1" bandRow="1">
                <a:tableStyleId>{5C22544A-7EE6-4342-B048-85BDC9FD1C3A}</a:tableStyleId>
              </a:tblPr>
              <a:tblGrid>
                <a:gridCol w="2603381">
                  <a:extLst>
                    <a:ext uri="{9D8B030D-6E8A-4147-A177-3AD203B41FA5}">
                      <a16:colId xmlns:a16="http://schemas.microsoft.com/office/drawing/2014/main" val="3160096713"/>
                    </a:ext>
                  </a:extLst>
                </a:gridCol>
                <a:gridCol w="1646657">
                  <a:extLst>
                    <a:ext uri="{9D8B030D-6E8A-4147-A177-3AD203B41FA5}">
                      <a16:colId xmlns:a16="http://schemas.microsoft.com/office/drawing/2014/main" val="1788658212"/>
                    </a:ext>
                  </a:extLst>
                </a:gridCol>
              </a:tblGrid>
              <a:tr h="370840">
                <a:tc>
                  <a:txBody>
                    <a:bodyPr/>
                    <a:lstStyle/>
                    <a:p>
                      <a:r>
                        <a:rPr lang="en-GB" dirty="0"/>
                        <a:t>Endpoint</a:t>
                      </a:r>
                    </a:p>
                  </a:txBody>
                  <a:tcPr/>
                </a:tc>
                <a:tc>
                  <a:txBody>
                    <a:bodyPr/>
                    <a:lstStyle/>
                    <a:p>
                      <a:r>
                        <a:rPr lang="en-GB" dirty="0"/>
                        <a:t>HTTP Method(s)</a:t>
                      </a:r>
                    </a:p>
                  </a:txBody>
                  <a:tcPr/>
                </a:tc>
                <a:extLst>
                  <a:ext uri="{0D108BD9-81ED-4DB2-BD59-A6C34878D82A}">
                    <a16:rowId xmlns:a16="http://schemas.microsoft.com/office/drawing/2014/main" val="2790317030"/>
                  </a:ext>
                </a:extLst>
              </a:tr>
              <a:tr h="370840">
                <a:tc>
                  <a:txBody>
                    <a:bodyPr/>
                    <a:lstStyle/>
                    <a:p>
                      <a:pPr lvl="0">
                        <a:buNone/>
                      </a:pPr>
                      <a:r>
                        <a:rPr lang="en-GB" dirty="0" err="1"/>
                        <a:t>api</a:t>
                      </a:r>
                      <a:r>
                        <a:rPr lang="en-GB" dirty="0"/>
                        <a:t>/v1/users/login</a:t>
                      </a:r>
                    </a:p>
                  </a:txBody>
                  <a:tcPr/>
                </a:tc>
                <a:tc>
                  <a:txBody>
                    <a:bodyPr/>
                    <a:lstStyle/>
                    <a:p>
                      <a:r>
                        <a:rPr lang="en-GB" dirty="0"/>
                        <a:t>POST</a:t>
                      </a:r>
                    </a:p>
                  </a:txBody>
                  <a:tcPr/>
                </a:tc>
                <a:extLst>
                  <a:ext uri="{0D108BD9-81ED-4DB2-BD59-A6C34878D82A}">
                    <a16:rowId xmlns:a16="http://schemas.microsoft.com/office/drawing/2014/main" val="3906053195"/>
                  </a:ext>
                </a:extLst>
              </a:tr>
              <a:tr h="370840">
                <a:tc>
                  <a:txBody>
                    <a:bodyPr/>
                    <a:lstStyle/>
                    <a:p>
                      <a:r>
                        <a:rPr lang="en-GB" b="0" dirty="0" err="1">
                          <a:latin typeface="Calibri"/>
                        </a:rPr>
                        <a:t>api</a:t>
                      </a:r>
                      <a:r>
                        <a:rPr lang="en-GB" b="0" dirty="0">
                          <a:latin typeface="Calibri"/>
                        </a:rPr>
                        <a:t>/v1/users/create</a:t>
                      </a:r>
                    </a:p>
                  </a:txBody>
                  <a:tcPr/>
                </a:tc>
                <a:tc>
                  <a:txBody>
                    <a:bodyPr/>
                    <a:lstStyle/>
                    <a:p>
                      <a:r>
                        <a:rPr lang="en-GB" b="0" dirty="0"/>
                        <a:t>POST</a:t>
                      </a:r>
                    </a:p>
                  </a:txBody>
                  <a:tcPr/>
                </a:tc>
                <a:extLst>
                  <a:ext uri="{0D108BD9-81ED-4DB2-BD59-A6C34878D82A}">
                    <a16:rowId xmlns:a16="http://schemas.microsoft.com/office/drawing/2014/main" val="1285679205"/>
                  </a:ext>
                </a:extLst>
              </a:tr>
              <a:tr h="370840">
                <a:tc>
                  <a:txBody>
                    <a:bodyPr/>
                    <a:lstStyle/>
                    <a:p>
                      <a:r>
                        <a:rPr lang="en-GB" dirty="0" err="1"/>
                        <a:t>api</a:t>
                      </a:r>
                      <a:r>
                        <a:rPr lang="en-GB" dirty="0"/>
                        <a:t>/v1/interests</a:t>
                      </a:r>
                    </a:p>
                  </a:txBody>
                  <a:tcPr/>
                </a:tc>
                <a:tc>
                  <a:txBody>
                    <a:bodyPr/>
                    <a:lstStyle/>
                    <a:p>
                      <a:r>
                        <a:rPr lang="en-GB" dirty="0"/>
                        <a:t>GET</a:t>
                      </a:r>
                    </a:p>
                  </a:txBody>
                  <a:tcPr/>
                </a:tc>
                <a:extLst>
                  <a:ext uri="{0D108BD9-81ED-4DB2-BD59-A6C34878D82A}">
                    <a16:rowId xmlns:a16="http://schemas.microsoft.com/office/drawing/2014/main" val="1607250145"/>
                  </a:ext>
                </a:extLst>
              </a:tr>
              <a:tr h="370840">
                <a:tc>
                  <a:txBody>
                    <a:bodyPr/>
                    <a:lstStyle/>
                    <a:p>
                      <a:r>
                        <a:rPr lang="en-GB" dirty="0"/>
                        <a:t>Api/v1/users/&lt;id&gt;</a:t>
                      </a:r>
                    </a:p>
                  </a:txBody>
                  <a:tcPr/>
                </a:tc>
                <a:tc>
                  <a:txBody>
                    <a:bodyPr/>
                    <a:lstStyle/>
                    <a:p>
                      <a:r>
                        <a:rPr lang="en-GB" dirty="0"/>
                        <a:t>DELETE</a:t>
                      </a:r>
                    </a:p>
                  </a:txBody>
                  <a:tcPr/>
                </a:tc>
                <a:extLst>
                  <a:ext uri="{0D108BD9-81ED-4DB2-BD59-A6C34878D82A}">
                    <a16:rowId xmlns:a16="http://schemas.microsoft.com/office/drawing/2014/main" val="4057687253"/>
                  </a:ext>
                </a:extLst>
              </a:tr>
            </a:tbl>
          </a:graphicData>
        </a:graphic>
      </p:graphicFrame>
      <p:pic>
        <p:nvPicPr>
          <p:cNvPr id="12" name="Picture 11">
            <a:extLst>
              <a:ext uri="{FF2B5EF4-FFF2-40B4-BE49-F238E27FC236}">
                <a16:creationId xmlns:a16="http://schemas.microsoft.com/office/drawing/2014/main" id="{CFC94521-FEB8-76DA-FA83-21855F596E30}"/>
              </a:ext>
            </a:extLst>
          </p:cNvPr>
          <p:cNvPicPr>
            <a:picLocks noChangeAspect="1"/>
          </p:cNvPicPr>
          <p:nvPr/>
        </p:nvPicPr>
        <p:blipFill>
          <a:blip r:embed="rId4"/>
          <a:stretch>
            <a:fillRect/>
          </a:stretch>
        </p:blipFill>
        <p:spPr>
          <a:xfrm>
            <a:off x="0" y="6035040"/>
            <a:ext cx="12153900" cy="822960"/>
          </a:xfrm>
          <a:prstGeom prst="rect">
            <a:avLst/>
          </a:prstGeom>
        </p:spPr>
      </p:pic>
      <p:sp>
        <p:nvSpPr>
          <p:cNvPr id="13" name="TextBox 12">
            <a:extLst>
              <a:ext uri="{FF2B5EF4-FFF2-40B4-BE49-F238E27FC236}">
                <a16:creationId xmlns:a16="http://schemas.microsoft.com/office/drawing/2014/main" id="{EAA5328B-DFC2-79CC-EFAF-995AA73DEFB4}"/>
              </a:ext>
            </a:extLst>
          </p:cNvPr>
          <p:cNvSpPr txBox="1"/>
          <p:nvPr/>
        </p:nvSpPr>
        <p:spPr>
          <a:xfrm>
            <a:off x="838200" y="1374696"/>
            <a:ext cx="6098058" cy="369332"/>
          </a:xfrm>
          <a:prstGeom prst="rect">
            <a:avLst/>
          </a:prstGeom>
          <a:noFill/>
        </p:spPr>
        <p:txBody>
          <a:bodyPr wrap="square" lIns="91440" tIns="45720" rIns="91440" bIns="45720" anchor="t">
            <a:spAutoFit/>
          </a:bodyPr>
          <a:lstStyle/>
          <a:p>
            <a:r>
              <a:rPr lang="en-GB" dirty="0"/>
              <a:t>Presenting Team Member: Dan</a:t>
            </a:r>
            <a:endParaRPr lang="en-GB" dirty="0">
              <a:solidFill>
                <a:srgbClr val="FF0000"/>
              </a:solidFill>
              <a:ea typeface="Calibri"/>
              <a:cs typeface="Calibri"/>
            </a:endParaRPr>
          </a:p>
        </p:txBody>
      </p:sp>
    </p:spTree>
    <p:extLst>
      <p:ext uri="{BB962C8B-B14F-4D97-AF65-F5344CB8AC3E}">
        <p14:creationId xmlns:p14="http://schemas.microsoft.com/office/powerpoint/2010/main" val="196454396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69D2A-F9D9-324D-9AF5-739FF811E5BE}"/>
              </a:ext>
            </a:extLst>
          </p:cNvPr>
          <p:cNvSpPr>
            <a:spLocks noGrp="1"/>
          </p:cNvSpPr>
          <p:nvPr>
            <p:ph type="title"/>
          </p:nvPr>
        </p:nvSpPr>
        <p:spPr/>
        <p:txBody>
          <a:bodyPr/>
          <a:lstStyle/>
          <a:p>
            <a:r>
              <a:rPr lang="en-GB" dirty="0"/>
              <a:t>Web Service Demo: Using Client frontend</a:t>
            </a:r>
          </a:p>
        </p:txBody>
      </p:sp>
      <p:sp>
        <p:nvSpPr>
          <p:cNvPr id="3" name="Content Placeholder 2">
            <a:extLst>
              <a:ext uri="{FF2B5EF4-FFF2-40B4-BE49-F238E27FC236}">
                <a16:creationId xmlns:a16="http://schemas.microsoft.com/office/drawing/2014/main" id="{81247B6A-40EF-5077-D32F-531828743939}"/>
              </a:ext>
            </a:extLst>
          </p:cNvPr>
          <p:cNvSpPr>
            <a:spLocks noGrp="1"/>
          </p:cNvSpPr>
          <p:nvPr>
            <p:ph sz="half" idx="1"/>
          </p:nvPr>
        </p:nvSpPr>
        <p:spPr>
          <a:xfrm>
            <a:off x="838199" y="1594022"/>
            <a:ext cx="10515599" cy="4582941"/>
          </a:xfrm>
        </p:spPr>
        <p:txBody>
          <a:bodyPr/>
          <a:lstStyle/>
          <a:p>
            <a:r>
              <a:rPr lang="en-GB" dirty="0">
                <a:solidFill>
                  <a:srgbClr val="FF0000"/>
                </a:solidFill>
              </a:rPr>
              <a:t>Here is where you would insert a demo video of the web service using the client frontend, if some elements of the client frontend are not complete then demonstrate these requests being made to the web service using an API testing tool such as Bruno</a:t>
            </a:r>
          </a:p>
        </p:txBody>
      </p:sp>
      <p:sp>
        <p:nvSpPr>
          <p:cNvPr id="5" name="Slide Number Placeholder 4">
            <a:extLst>
              <a:ext uri="{FF2B5EF4-FFF2-40B4-BE49-F238E27FC236}">
                <a16:creationId xmlns:a16="http://schemas.microsoft.com/office/drawing/2014/main" id="{8DB6ED96-353E-39D5-A857-1E02BBBA6BF5}"/>
              </a:ext>
            </a:extLst>
          </p:cNvPr>
          <p:cNvSpPr>
            <a:spLocks noGrp="1"/>
          </p:cNvSpPr>
          <p:nvPr>
            <p:ph type="sldNum" sz="quarter" idx="12"/>
          </p:nvPr>
        </p:nvSpPr>
        <p:spPr/>
        <p:txBody>
          <a:bodyPr/>
          <a:lstStyle/>
          <a:p>
            <a:fld id="{B562D212-6087-423C-AFFF-BF351400B1FF}" type="slidenum">
              <a:rPr lang="en-GB" smtClean="0"/>
              <a:t>15</a:t>
            </a:fld>
            <a:endParaRPr lang="en-GB"/>
          </a:p>
        </p:txBody>
      </p:sp>
      <p:pic>
        <p:nvPicPr>
          <p:cNvPr id="6" name="Picture 5">
            <a:extLst>
              <a:ext uri="{FF2B5EF4-FFF2-40B4-BE49-F238E27FC236}">
                <a16:creationId xmlns:a16="http://schemas.microsoft.com/office/drawing/2014/main" id="{E5647E22-D8AF-1F6F-BE80-E92592AD3390}"/>
              </a:ext>
            </a:extLst>
          </p:cNvPr>
          <p:cNvPicPr>
            <a:picLocks noChangeAspect="1"/>
          </p:cNvPicPr>
          <p:nvPr/>
        </p:nvPicPr>
        <p:blipFill>
          <a:blip r:embed="rId3"/>
          <a:stretch>
            <a:fillRect/>
          </a:stretch>
        </p:blipFill>
        <p:spPr>
          <a:xfrm>
            <a:off x="0" y="6035040"/>
            <a:ext cx="12153900" cy="822960"/>
          </a:xfrm>
          <a:prstGeom prst="rect">
            <a:avLst/>
          </a:prstGeom>
        </p:spPr>
      </p:pic>
      <p:sp>
        <p:nvSpPr>
          <p:cNvPr id="7" name="TextBox 6">
            <a:extLst>
              <a:ext uri="{FF2B5EF4-FFF2-40B4-BE49-F238E27FC236}">
                <a16:creationId xmlns:a16="http://schemas.microsoft.com/office/drawing/2014/main" id="{4BD173E2-0442-FDBD-0BB2-C21679EF9473}"/>
              </a:ext>
            </a:extLst>
          </p:cNvPr>
          <p:cNvSpPr txBox="1"/>
          <p:nvPr/>
        </p:nvSpPr>
        <p:spPr>
          <a:xfrm>
            <a:off x="838197" y="1224690"/>
            <a:ext cx="6098058" cy="369332"/>
          </a:xfrm>
          <a:prstGeom prst="rect">
            <a:avLst/>
          </a:prstGeom>
          <a:noFill/>
        </p:spPr>
        <p:txBody>
          <a:bodyPr wrap="square">
            <a:spAutoFit/>
          </a:bodyPr>
          <a:lstStyle/>
          <a:p>
            <a:r>
              <a:rPr lang="en-GB" dirty="0"/>
              <a:t>Presenting Team Member: </a:t>
            </a:r>
            <a:r>
              <a:rPr lang="en-GB" dirty="0">
                <a:solidFill>
                  <a:srgbClr val="FF0000"/>
                </a:solidFill>
              </a:rPr>
              <a:t>Student 5</a:t>
            </a:r>
          </a:p>
        </p:txBody>
      </p:sp>
    </p:spTree>
    <p:extLst>
      <p:ext uri="{BB962C8B-B14F-4D97-AF65-F5344CB8AC3E}">
        <p14:creationId xmlns:p14="http://schemas.microsoft.com/office/powerpoint/2010/main" val="3427033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A7B50E-83E8-B038-DBCD-278AB09D9D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328FED-0304-0409-0F16-C968A95DA2DE}"/>
              </a:ext>
            </a:extLst>
          </p:cNvPr>
          <p:cNvSpPr>
            <a:spLocks noGrp="1"/>
          </p:cNvSpPr>
          <p:nvPr>
            <p:ph type="title"/>
          </p:nvPr>
        </p:nvSpPr>
        <p:spPr/>
        <p:txBody>
          <a:bodyPr/>
          <a:lstStyle/>
          <a:p>
            <a:pPr algn="ctr"/>
            <a:r>
              <a:rPr lang="en-GB" dirty="0">
                <a:solidFill>
                  <a:srgbClr val="FF0000"/>
                </a:solidFill>
              </a:rPr>
              <a:t>Evaluation and Reflection</a:t>
            </a:r>
          </a:p>
        </p:txBody>
      </p:sp>
      <p:sp>
        <p:nvSpPr>
          <p:cNvPr id="5" name="Text Placeholder 4">
            <a:extLst>
              <a:ext uri="{FF2B5EF4-FFF2-40B4-BE49-F238E27FC236}">
                <a16:creationId xmlns:a16="http://schemas.microsoft.com/office/drawing/2014/main" id="{9CBD7BF5-17C3-310C-02E2-CEF28AEB588D}"/>
              </a:ext>
            </a:extLst>
          </p:cNvPr>
          <p:cNvSpPr>
            <a:spLocks noGrp="1"/>
          </p:cNvSpPr>
          <p:nvPr>
            <p:ph type="body" idx="1"/>
          </p:nvPr>
        </p:nvSpPr>
        <p:spPr/>
        <p:txBody>
          <a:bodyPr/>
          <a:lstStyle/>
          <a:p>
            <a:r>
              <a:rPr lang="en-GB" dirty="0">
                <a:solidFill>
                  <a:srgbClr val="FF0000"/>
                </a:solidFill>
              </a:rPr>
              <a:t>This slide is hidden do not record on it, it is simply meant to divide the presentation template into sections</a:t>
            </a:r>
          </a:p>
        </p:txBody>
      </p:sp>
    </p:spTree>
    <p:extLst>
      <p:ext uri="{BB962C8B-B14F-4D97-AF65-F5344CB8AC3E}">
        <p14:creationId xmlns:p14="http://schemas.microsoft.com/office/powerpoint/2010/main" val="3036749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1A1F-EC20-8A11-42AC-2C17AB94F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24F45-22BC-0A4C-381C-9600D62F0D6E}"/>
              </a:ext>
            </a:extLst>
          </p:cNvPr>
          <p:cNvSpPr>
            <a:spLocks noGrp="1"/>
          </p:cNvSpPr>
          <p:nvPr>
            <p:ph type="title"/>
          </p:nvPr>
        </p:nvSpPr>
        <p:spPr/>
        <p:txBody>
          <a:bodyPr/>
          <a:lstStyle/>
          <a:p>
            <a:r>
              <a:rPr lang="en-GB" dirty="0"/>
              <a:t>System Evaluation and Reflection</a:t>
            </a:r>
          </a:p>
        </p:txBody>
      </p:sp>
      <p:sp>
        <p:nvSpPr>
          <p:cNvPr id="6" name="Content Placeholder 5">
            <a:extLst>
              <a:ext uri="{FF2B5EF4-FFF2-40B4-BE49-F238E27FC236}">
                <a16:creationId xmlns:a16="http://schemas.microsoft.com/office/drawing/2014/main" id="{3E82CC40-0AEE-68B5-A529-B62957589719}"/>
              </a:ext>
            </a:extLst>
          </p:cNvPr>
          <p:cNvSpPr>
            <a:spLocks noGrp="1"/>
          </p:cNvSpPr>
          <p:nvPr>
            <p:ph idx="1"/>
          </p:nvPr>
        </p:nvSpPr>
        <p:spPr/>
        <p:txBody>
          <a:bodyPr/>
          <a:lstStyle/>
          <a:p>
            <a:r>
              <a:rPr lang="en-GB" dirty="0">
                <a:solidFill>
                  <a:srgbClr val="FF0000"/>
                </a:solidFill>
              </a:rPr>
              <a:t>Present the results of any manual / automated testing performed on the system here and discuss them, a testing table or charts to visualise the results may be useful</a:t>
            </a:r>
          </a:p>
        </p:txBody>
      </p:sp>
      <p:sp>
        <p:nvSpPr>
          <p:cNvPr id="5" name="Slide Number Placeholder 4">
            <a:extLst>
              <a:ext uri="{FF2B5EF4-FFF2-40B4-BE49-F238E27FC236}">
                <a16:creationId xmlns:a16="http://schemas.microsoft.com/office/drawing/2014/main" id="{17F8DAFA-B3BD-6CE5-4F21-51772A149D1B}"/>
              </a:ext>
            </a:extLst>
          </p:cNvPr>
          <p:cNvSpPr>
            <a:spLocks noGrp="1"/>
          </p:cNvSpPr>
          <p:nvPr>
            <p:ph type="sldNum" sz="quarter" idx="12"/>
          </p:nvPr>
        </p:nvSpPr>
        <p:spPr/>
        <p:txBody>
          <a:bodyPr/>
          <a:lstStyle/>
          <a:p>
            <a:fld id="{B562D212-6087-423C-AFFF-BF351400B1FF}" type="slidenum">
              <a:rPr lang="en-GB" smtClean="0"/>
              <a:t>17</a:t>
            </a:fld>
            <a:endParaRPr lang="en-GB"/>
          </a:p>
        </p:txBody>
      </p:sp>
      <p:sp>
        <p:nvSpPr>
          <p:cNvPr id="4" name="TextBox 3">
            <a:extLst>
              <a:ext uri="{FF2B5EF4-FFF2-40B4-BE49-F238E27FC236}">
                <a16:creationId xmlns:a16="http://schemas.microsoft.com/office/drawing/2014/main" id="{E42D4CF8-ABCF-BE1A-558A-E211BA636644}"/>
              </a:ext>
            </a:extLst>
          </p:cNvPr>
          <p:cNvSpPr txBox="1"/>
          <p:nvPr/>
        </p:nvSpPr>
        <p:spPr>
          <a:xfrm>
            <a:off x="838200" y="1374696"/>
            <a:ext cx="6098058" cy="369332"/>
          </a:xfrm>
          <a:prstGeom prst="rect">
            <a:avLst/>
          </a:prstGeom>
          <a:noFill/>
        </p:spPr>
        <p:txBody>
          <a:bodyPr wrap="square">
            <a:spAutoFit/>
          </a:bodyPr>
          <a:lstStyle/>
          <a:p>
            <a:r>
              <a:rPr lang="en-GB" dirty="0"/>
              <a:t>Presenting Team Member: </a:t>
            </a:r>
            <a:r>
              <a:rPr lang="en-GB" dirty="0">
                <a:solidFill>
                  <a:srgbClr val="FF0000"/>
                </a:solidFill>
              </a:rPr>
              <a:t>Student 3</a:t>
            </a:r>
          </a:p>
        </p:txBody>
      </p:sp>
    </p:spTree>
    <p:extLst>
      <p:ext uri="{BB962C8B-B14F-4D97-AF65-F5344CB8AC3E}">
        <p14:creationId xmlns:p14="http://schemas.microsoft.com/office/powerpoint/2010/main" val="2282371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91ED-BF6A-587B-C5B3-228A0FA3A9C8}"/>
              </a:ext>
            </a:extLst>
          </p:cNvPr>
          <p:cNvSpPr>
            <a:spLocks noGrp="1"/>
          </p:cNvSpPr>
          <p:nvPr>
            <p:ph type="title"/>
          </p:nvPr>
        </p:nvSpPr>
        <p:spPr/>
        <p:txBody>
          <a:bodyPr/>
          <a:lstStyle/>
          <a:p>
            <a:r>
              <a:rPr lang="en-GB" dirty="0"/>
              <a:t>System Evaluation and Reflection</a:t>
            </a:r>
          </a:p>
        </p:txBody>
      </p:sp>
      <p:sp>
        <p:nvSpPr>
          <p:cNvPr id="6" name="Content Placeholder 5">
            <a:extLst>
              <a:ext uri="{FF2B5EF4-FFF2-40B4-BE49-F238E27FC236}">
                <a16:creationId xmlns:a16="http://schemas.microsoft.com/office/drawing/2014/main" id="{77EBA50C-37C3-0FAD-F5AF-23747A4D0BF2}"/>
              </a:ext>
            </a:extLst>
          </p:cNvPr>
          <p:cNvSpPr>
            <a:spLocks noGrp="1"/>
          </p:cNvSpPr>
          <p:nvPr>
            <p:ph idx="1"/>
          </p:nvPr>
        </p:nvSpPr>
        <p:spPr/>
        <p:txBody>
          <a:bodyPr/>
          <a:lstStyle/>
          <a:p>
            <a:r>
              <a:rPr lang="en-GB" dirty="0">
                <a:solidFill>
                  <a:srgbClr val="FF0000"/>
                </a:solidFill>
              </a:rPr>
              <a:t>Critically reflect on the system which has been produced, linking in:</a:t>
            </a:r>
          </a:p>
          <a:p>
            <a:pPr lvl="1"/>
            <a:r>
              <a:rPr lang="en-GB" dirty="0">
                <a:solidFill>
                  <a:srgbClr val="FF0000"/>
                </a:solidFill>
              </a:rPr>
              <a:t>Reflections on the requirements as identified in previous submissions (did anything change?)</a:t>
            </a:r>
          </a:p>
          <a:p>
            <a:pPr lvl="1"/>
            <a:r>
              <a:rPr lang="en-GB" dirty="0">
                <a:solidFill>
                  <a:srgbClr val="FF0000"/>
                </a:solidFill>
              </a:rPr>
              <a:t>Consider how planning and design helped you to consider aspects of the system before the implementation (and what didn’t you consider in hindsight)</a:t>
            </a:r>
          </a:p>
          <a:p>
            <a:pPr lvl="1"/>
            <a:r>
              <a:rPr lang="en-GB" dirty="0">
                <a:solidFill>
                  <a:srgbClr val="FF0000"/>
                </a:solidFill>
              </a:rPr>
              <a:t>Consider what major positives and negatives you would draw from evaluating your implementation</a:t>
            </a:r>
          </a:p>
          <a:p>
            <a:pPr lvl="2"/>
            <a:r>
              <a:rPr lang="en-GB" dirty="0">
                <a:solidFill>
                  <a:srgbClr val="FF0000"/>
                </a:solidFill>
              </a:rPr>
              <a:t>How would you improve things in the future? </a:t>
            </a:r>
          </a:p>
          <a:p>
            <a:pPr lvl="2"/>
            <a:r>
              <a:rPr lang="en-GB" dirty="0">
                <a:solidFill>
                  <a:srgbClr val="FF0000"/>
                </a:solidFill>
              </a:rPr>
              <a:t>How would you improve your development process in the future?</a:t>
            </a:r>
          </a:p>
          <a:p>
            <a:pPr lvl="1"/>
            <a:r>
              <a:rPr lang="en-GB" dirty="0">
                <a:solidFill>
                  <a:srgbClr val="FF0000"/>
                </a:solidFill>
              </a:rPr>
              <a:t> with the evaluation results</a:t>
            </a:r>
          </a:p>
        </p:txBody>
      </p:sp>
      <p:sp>
        <p:nvSpPr>
          <p:cNvPr id="5" name="Slide Number Placeholder 4">
            <a:extLst>
              <a:ext uri="{FF2B5EF4-FFF2-40B4-BE49-F238E27FC236}">
                <a16:creationId xmlns:a16="http://schemas.microsoft.com/office/drawing/2014/main" id="{7C3C1313-1C1A-BC4D-9BDB-49CB44D03163}"/>
              </a:ext>
            </a:extLst>
          </p:cNvPr>
          <p:cNvSpPr>
            <a:spLocks noGrp="1"/>
          </p:cNvSpPr>
          <p:nvPr>
            <p:ph type="sldNum" sz="quarter" idx="12"/>
          </p:nvPr>
        </p:nvSpPr>
        <p:spPr/>
        <p:txBody>
          <a:bodyPr/>
          <a:lstStyle/>
          <a:p>
            <a:fld id="{B562D212-6087-423C-AFFF-BF351400B1FF}" type="slidenum">
              <a:rPr lang="en-GB" smtClean="0"/>
              <a:t>18</a:t>
            </a:fld>
            <a:endParaRPr lang="en-GB"/>
          </a:p>
        </p:txBody>
      </p:sp>
      <p:sp>
        <p:nvSpPr>
          <p:cNvPr id="7" name="TextBox 6">
            <a:extLst>
              <a:ext uri="{FF2B5EF4-FFF2-40B4-BE49-F238E27FC236}">
                <a16:creationId xmlns:a16="http://schemas.microsoft.com/office/drawing/2014/main" id="{7C3D6C24-4195-F1AF-4162-82788CF11B97}"/>
              </a:ext>
            </a:extLst>
          </p:cNvPr>
          <p:cNvSpPr txBox="1"/>
          <p:nvPr/>
        </p:nvSpPr>
        <p:spPr>
          <a:xfrm>
            <a:off x="838200" y="1374696"/>
            <a:ext cx="6098058" cy="369332"/>
          </a:xfrm>
          <a:prstGeom prst="rect">
            <a:avLst/>
          </a:prstGeom>
          <a:noFill/>
        </p:spPr>
        <p:txBody>
          <a:bodyPr wrap="square">
            <a:spAutoFit/>
          </a:bodyPr>
          <a:lstStyle/>
          <a:p>
            <a:r>
              <a:rPr lang="en-GB" dirty="0"/>
              <a:t>Presenting Team Member(s): </a:t>
            </a:r>
            <a:r>
              <a:rPr lang="en-GB" dirty="0">
                <a:solidFill>
                  <a:srgbClr val="FF0000"/>
                </a:solidFill>
              </a:rPr>
              <a:t>Student 1,2,3, 4 and 5</a:t>
            </a:r>
          </a:p>
        </p:txBody>
      </p:sp>
    </p:spTree>
    <p:extLst>
      <p:ext uri="{BB962C8B-B14F-4D97-AF65-F5344CB8AC3E}">
        <p14:creationId xmlns:p14="http://schemas.microsoft.com/office/powerpoint/2010/main" val="1297855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4F2DDB-58DA-258A-4596-5678A69D0325}"/>
              </a:ext>
            </a:extLst>
          </p:cNvPr>
          <p:cNvSpPr>
            <a:spLocks noGrp="1"/>
          </p:cNvSpPr>
          <p:nvPr>
            <p:ph type="ctrTitle"/>
          </p:nvPr>
        </p:nvSpPr>
        <p:spPr/>
        <p:txBody>
          <a:bodyPr/>
          <a:lstStyle/>
          <a:p>
            <a:r>
              <a:rPr lang="en-GB" dirty="0">
                <a:solidFill>
                  <a:srgbClr val="FF0000"/>
                </a:solidFill>
              </a:rPr>
              <a:t>Advice and Guidance</a:t>
            </a:r>
          </a:p>
        </p:txBody>
      </p:sp>
      <p:sp>
        <p:nvSpPr>
          <p:cNvPr id="6" name="Subtitle 5">
            <a:extLst>
              <a:ext uri="{FF2B5EF4-FFF2-40B4-BE49-F238E27FC236}">
                <a16:creationId xmlns:a16="http://schemas.microsoft.com/office/drawing/2014/main" id="{41CDBAEF-E9F6-BA29-4994-83BDA5C810F0}"/>
              </a:ext>
            </a:extLst>
          </p:cNvPr>
          <p:cNvSpPr>
            <a:spLocks noGrp="1"/>
          </p:cNvSpPr>
          <p:nvPr>
            <p:ph type="subTitle" idx="1"/>
          </p:nvPr>
        </p:nvSpPr>
        <p:spPr/>
        <p:txBody>
          <a:bodyPr/>
          <a:lstStyle/>
          <a:p>
            <a:r>
              <a:rPr lang="en-GB" dirty="0">
                <a:solidFill>
                  <a:srgbClr val="FF0000"/>
                </a:solidFill>
              </a:rPr>
              <a:t>This slide is hidden do not record on it, it is simply meant to divide the presentation template into sections</a:t>
            </a:r>
          </a:p>
          <a:p>
            <a:endParaRPr lang="en-GB" dirty="0"/>
          </a:p>
        </p:txBody>
      </p:sp>
      <p:sp>
        <p:nvSpPr>
          <p:cNvPr id="4" name="Slide Number Placeholder 3">
            <a:extLst>
              <a:ext uri="{FF2B5EF4-FFF2-40B4-BE49-F238E27FC236}">
                <a16:creationId xmlns:a16="http://schemas.microsoft.com/office/drawing/2014/main" id="{A2EBDCEC-3F87-FDC9-9763-7DC9209CBFBC}"/>
              </a:ext>
            </a:extLst>
          </p:cNvPr>
          <p:cNvSpPr>
            <a:spLocks noGrp="1"/>
          </p:cNvSpPr>
          <p:nvPr>
            <p:ph type="sldNum" sz="quarter" idx="12"/>
          </p:nvPr>
        </p:nvSpPr>
        <p:spPr/>
        <p:txBody>
          <a:bodyPr/>
          <a:lstStyle/>
          <a:p>
            <a:fld id="{B562D212-6087-423C-AFFF-BF351400B1FF}" type="slidenum">
              <a:rPr lang="en-GB" smtClean="0"/>
              <a:t>19</a:t>
            </a:fld>
            <a:endParaRPr lang="en-GB"/>
          </a:p>
        </p:txBody>
      </p:sp>
    </p:spTree>
    <p:extLst>
      <p:ext uri="{BB962C8B-B14F-4D97-AF65-F5344CB8AC3E}">
        <p14:creationId xmlns:p14="http://schemas.microsoft.com/office/powerpoint/2010/main" val="1133640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FD13977575EAA4E8F9C11906492FC69" ma:contentTypeVersion="11" ma:contentTypeDescription="Create a new document." ma:contentTypeScope="" ma:versionID="e9ed61061286039959722191b07f9e0c">
  <xsd:schema xmlns:xsd="http://www.w3.org/2001/XMLSchema" xmlns:xs="http://www.w3.org/2001/XMLSchema" xmlns:p="http://schemas.microsoft.com/office/2006/metadata/properties" xmlns:ns3="a308fb6d-2bca-44a8-b40e-7c117ee46bdd" xmlns:ns4="1066959d-08e3-403d-b5ad-48f659ef38e8" targetNamespace="http://schemas.microsoft.com/office/2006/metadata/properties" ma:root="true" ma:fieldsID="49d83b0be8a84ad06eb2e61c1ba1b1e8" ns3:_="" ns4:_="">
    <xsd:import namespace="a308fb6d-2bca-44a8-b40e-7c117ee46bdd"/>
    <xsd:import namespace="1066959d-08e3-403d-b5ad-48f659ef38e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08fb6d-2bca-44a8-b40e-7c117ee46b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66959d-08e3-403d-b5ad-48f659ef38e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81EEB9-8C3F-42F4-B1EC-83A9AA22EC9C}">
  <ds:schemaRefs>
    <ds:schemaRef ds:uri="1066959d-08e3-403d-b5ad-48f659ef38e8"/>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a308fb6d-2bca-44a8-b40e-7c117ee46bdd"/>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846E5FAD-5BF7-42F1-B568-ADDB179D94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308fb6d-2bca-44a8-b40e-7c117ee46bdd"/>
    <ds:schemaRef ds:uri="1066959d-08e3-403d-b5ad-48f659ef38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8F1355-E686-4225-B84F-21550D82A7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30773</TotalTime>
  <Words>1656</Words>
  <Application>Microsoft Office PowerPoint</Application>
  <PresentationFormat>Widescreen</PresentationFormat>
  <Paragraphs>171</Paragraphs>
  <Slides>19</Slides>
  <Notes>18</Notes>
  <HiddenSlides>5</HiddenSlides>
  <MMClips>0</MMClips>
  <ScaleCrop>false</ScaleCrop>
  <HeadingPairs>
    <vt:vector size="4" baseType="variant">
      <vt:variant>
        <vt:lpstr>Theme</vt:lpstr>
      </vt:variant>
      <vt:variant>
        <vt:i4>2</vt:i4>
      </vt:variant>
      <vt:variant>
        <vt:lpstr>Slide Titles</vt:lpstr>
      </vt:variant>
      <vt:variant>
        <vt:i4>19</vt:i4>
      </vt:variant>
    </vt:vector>
  </HeadingPairs>
  <TitlesOfParts>
    <vt:vector size="21" baseType="lpstr">
      <vt:lpstr>Office Theme</vt:lpstr>
      <vt:lpstr>1_Office Theme</vt:lpstr>
      <vt:lpstr>PowerPoint Presentation</vt:lpstr>
      <vt:lpstr>University Society Recommendation System</vt:lpstr>
      <vt:lpstr>Overview</vt:lpstr>
      <vt:lpstr>Elevator Pitch: Project Idea Summary</vt:lpstr>
      <vt:lpstr>Features Identified</vt:lpstr>
      <vt:lpstr>Tech Stack</vt:lpstr>
      <vt:lpstr>Database  Design and Implementation</vt:lpstr>
      <vt:lpstr>Database Design</vt:lpstr>
      <vt:lpstr>Database Implementation</vt:lpstr>
      <vt:lpstr>Database Implementation</vt:lpstr>
      <vt:lpstr>Web Service  Design and Implementation</vt:lpstr>
      <vt:lpstr>Web Service Implementation</vt:lpstr>
      <vt:lpstr>Web Service Implementation</vt:lpstr>
      <vt:lpstr>Web Service Implementation</vt:lpstr>
      <vt:lpstr>Web Service Demo: Using Client frontend</vt:lpstr>
      <vt:lpstr>Evaluation and Reflection</vt:lpstr>
      <vt:lpstr>System Evaluation and Reflection</vt:lpstr>
      <vt:lpstr>System Evaluation and Reflection</vt:lpstr>
      <vt:lpstr>Advice and Guidance</vt:lpstr>
    </vt:vector>
  </TitlesOfParts>
  <Company>Birmingham City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Rimell</dc:creator>
  <cp:lastModifiedBy>Alex Rush</cp:lastModifiedBy>
  <cp:revision>615</cp:revision>
  <cp:lastPrinted>2022-09-20T05:17:49Z</cp:lastPrinted>
  <dcterms:created xsi:type="dcterms:W3CDTF">2020-08-18T15:14:00Z</dcterms:created>
  <dcterms:modified xsi:type="dcterms:W3CDTF">2026-01-22T13:26:22Z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0x0101003FD13977575EAA4E8F9C11906492FC69</vt:lpwstr>
  </property>
  <property fmtid="{D5CDD505-2E9C-101B-9397-08002B2CF9AE}" pid="3" name="KSOProductBuildVer">
    <vt:lpwstr>2057-11.2.0.10101</vt:lpwstr>
  </property>
</Properties>
</file>